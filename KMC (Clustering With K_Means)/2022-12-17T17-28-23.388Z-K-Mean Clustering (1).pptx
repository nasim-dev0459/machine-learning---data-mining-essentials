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5" r:id="rId5"/>
    <p:sldId id="260" r:id="rId6"/>
    <p:sldId id="261" r:id="rId7"/>
    <p:sldId id="266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72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5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66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95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77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30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1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496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19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224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4F9A9-CB77-4A94-AEE0-C37C94C95FFF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6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03419" y="473485"/>
            <a:ext cx="5957454" cy="483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kern="0" dirty="0" smtClean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K-Mean </a:t>
            </a:r>
            <a:r>
              <a:rPr lang="en-US" sz="2400" b="1" kern="0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sz="2400" b="1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sz="2400" b="1" kern="0" dirty="0" smtClean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kern="0" dirty="0">
              <a:solidFill>
                <a:srgbClr val="FF0000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96587" y="1347112"/>
            <a:ext cx="86313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k-means is one of the simplest unsupervised learning algorithms that </a:t>
            </a:r>
            <a:r>
              <a:rPr lang="en-US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solves </a:t>
            </a: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well-known clustering problem. The procedure follows a simple and easy way to classify a given data set through a certain number of clusters (assume k clusters) 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17" y="4990174"/>
            <a:ext cx="1418705" cy="1425039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392" y="2547441"/>
            <a:ext cx="7240299" cy="368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384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17" y="4990174"/>
            <a:ext cx="1418705" cy="1425039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2644300" y="1260328"/>
            <a:ext cx="9421091" cy="1304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 smtClean="0">
                <a:solidFill>
                  <a:srgbClr val="FF0000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Divide </a:t>
            </a:r>
            <a:r>
              <a:rPr lang="en-US" b="1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following data into two clusters using the k-mean clustering. 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A(3,4</a:t>
            </a: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B(6,7</a:t>
            </a: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C(4,5</a:t>
            </a: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en-US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D(5,7</a:t>
            </a: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E</a:t>
            </a:r>
            <a:r>
              <a:rPr lang="en-US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(2,6)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798617" y="2790131"/>
            <a:ext cx="6096000" cy="162300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solidFill>
                  <a:srgbClr val="00B050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Answer</a:t>
            </a:r>
            <a:r>
              <a:rPr lang="en-US" b="1" dirty="0" smtClean="0">
                <a:solidFill>
                  <a:srgbClr val="00B050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Initial </a:t>
            </a: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Step: (Centroid selection)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For </a:t>
            </a: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cluster-1: </a:t>
            </a:r>
            <a:r>
              <a:rPr lang="en-US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A(3</a:t>
            </a: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4)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For </a:t>
            </a: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cluster-2: </a:t>
            </a:r>
            <a:r>
              <a:rPr lang="en-US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C(4</a:t>
            </a: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5)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17274" y="301966"/>
            <a:ext cx="5957454" cy="483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kern="0" dirty="0" smtClean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K-Mean </a:t>
            </a:r>
            <a:r>
              <a:rPr lang="en-US" sz="2400" b="1" kern="0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sz="2400" b="1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sz="2400" b="1" kern="0" dirty="0" smtClean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kern="0" dirty="0">
              <a:solidFill>
                <a:srgbClr val="FF0000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48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17" y="4990174"/>
            <a:ext cx="1418705" cy="1425039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904475" y="1611677"/>
            <a:ext cx="1640193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Iteration -1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828546"/>
              </p:ext>
            </p:extLst>
          </p:nvPr>
        </p:nvGraphicFramePr>
        <p:xfrm>
          <a:off x="1066802" y="2164563"/>
          <a:ext cx="5888181" cy="2164002"/>
        </p:xfrm>
        <a:graphic>
          <a:graphicData uri="http://schemas.openxmlformats.org/drawingml/2006/table">
            <a:tbl>
              <a:tblPr firstRow="1" firstCol="1" bandRow="1"/>
              <a:tblGrid>
                <a:gridCol w="1029235">
                  <a:extLst>
                    <a:ext uri="{9D8B030D-6E8A-4147-A177-3AD203B41FA5}">
                      <a16:colId xmlns:a16="http://schemas.microsoft.com/office/drawing/2014/main" val="3319397569"/>
                    </a:ext>
                  </a:extLst>
                </a:gridCol>
                <a:gridCol w="1615660">
                  <a:extLst>
                    <a:ext uri="{9D8B030D-6E8A-4147-A177-3AD203B41FA5}">
                      <a16:colId xmlns:a16="http://schemas.microsoft.com/office/drawing/2014/main" val="746577769"/>
                    </a:ext>
                  </a:extLst>
                </a:gridCol>
                <a:gridCol w="1802413">
                  <a:extLst>
                    <a:ext uri="{9D8B030D-6E8A-4147-A177-3AD203B41FA5}">
                      <a16:colId xmlns:a16="http://schemas.microsoft.com/office/drawing/2014/main" val="650416815"/>
                    </a:ext>
                  </a:extLst>
                </a:gridCol>
                <a:gridCol w="1440873">
                  <a:extLst>
                    <a:ext uri="{9D8B030D-6E8A-4147-A177-3AD203B41FA5}">
                      <a16:colId xmlns:a16="http://schemas.microsoft.com/office/drawing/2014/main" val="2603027976"/>
                    </a:ext>
                  </a:extLst>
                </a:gridCol>
              </a:tblGrid>
              <a:tr h="5126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Cluster-1 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Centroid(3,4)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Cluster-2 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Centroid(4,5)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972545"/>
                  </a:ext>
                </a:extLst>
              </a:tr>
              <a:tr h="3206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A(3,4</a:t>
                      </a: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1.414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911070"/>
                  </a:ext>
                </a:extLst>
              </a:tr>
              <a:tr h="3206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B(6,7</a:t>
                      </a: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4.242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2.828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950810"/>
                  </a:ext>
                </a:extLst>
              </a:tr>
              <a:tr h="3206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C(4,5</a:t>
                      </a: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1.414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032565"/>
                  </a:ext>
                </a:extLst>
              </a:tr>
              <a:tr h="3206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D(5,7</a:t>
                      </a: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3.605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2.236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397120"/>
                  </a:ext>
                </a:extLst>
              </a:tr>
              <a:tr h="3206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E(2,6</a:t>
                      </a: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2.236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2.236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735598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739677" y="1611677"/>
            <a:ext cx="1321196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Side note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735256" y="2164563"/>
                <a:ext cx="3837709" cy="246554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(3−4)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(4−5)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1.414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(6−3)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(7−4)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4.242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(6−4)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(7−5)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2.828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(5−3)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(7−4)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3.605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(5−4)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(7−5)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2.236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(2−3)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(6−4)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2.236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(2−4)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(6−5)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2.236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5256" y="2164563"/>
                <a:ext cx="3837709" cy="2465547"/>
              </a:xfrm>
              <a:prstGeom prst="rect">
                <a:avLst/>
              </a:prstGeom>
              <a:blipFill>
                <a:blip r:embed="rId3"/>
                <a:stretch>
                  <a:fillRect l="-954" b="-1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3103419" y="473485"/>
            <a:ext cx="5957454" cy="483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kern="0" dirty="0" smtClean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K-Mean </a:t>
            </a:r>
            <a:r>
              <a:rPr lang="en-US" sz="2400" b="1" kern="0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sz="2400" b="1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sz="2400" b="1" kern="0" dirty="0" smtClean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kern="0" dirty="0">
              <a:solidFill>
                <a:srgbClr val="FF0000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99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17" y="4990174"/>
            <a:ext cx="1418705" cy="1425039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2" name="Rectangle 1"/>
          <p:cNvSpPr/>
          <p:nvPr/>
        </p:nvSpPr>
        <p:spPr>
          <a:xfrm>
            <a:off x="3898802" y="1827876"/>
            <a:ext cx="2909771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Centroid Modification: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898802" y="2484100"/>
                <a:ext cx="4328745" cy="231448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US" sz="1600" b="1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Cluster-1: </a:t>
                </a:r>
                <a:r>
                  <a:rPr lang="en-US" sz="1600" dirty="0" smtClean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600" dirty="0" smtClean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(3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4) </a:t>
                </a:r>
                <a:r>
                  <a:rPr lang="en-US" sz="1600" dirty="0" smtClean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E(2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6)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So, Centroid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3+2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4+6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(2.5, 5</a:t>
                </a:r>
                <a:r>
                  <a:rPr lang="en-US" sz="1600" dirty="0" smtClean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1600" dirty="0" smtClean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b="1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Cluster-2: </a:t>
                </a:r>
                <a:r>
                  <a:rPr lang="en-US" sz="1600" dirty="0" smtClean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B(</a:t>
                </a:r>
                <a:r>
                  <a:rPr lang="en-US" sz="1600" dirty="0" smtClean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6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7) </a:t>
                </a:r>
                <a:r>
                  <a:rPr lang="en-US" sz="1600" dirty="0" smtClean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C(4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5) </a:t>
                </a:r>
                <a:r>
                  <a:rPr lang="en-US" sz="1600" dirty="0" smtClean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D(5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7</a:t>
                </a:r>
                <a:r>
                  <a:rPr lang="en-US" sz="1600" dirty="0" smtClean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115000"/>
                  </a:lnSpc>
                </a:pP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r>
                  <a:rPr lang="en-US" sz="1600" dirty="0" smtClean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So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Centroid</a:t>
                </a:r>
                <a:r>
                  <a:rPr lang="en-US" sz="1600" dirty="0">
                    <a:effectLst/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(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6+4+5</m:t>
                        </m:r>
                      </m:num>
                      <m:den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7+5+7</m:t>
                        </m:r>
                      </m:num>
                      <m:den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)</m:t>
                    </m:r>
                  </m:oMath>
                </a14:m>
                <a:r>
                  <a:rPr lang="en-US" sz="1600" dirty="0">
                    <a:effectLst/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(5, 6.33)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802" y="2484100"/>
                <a:ext cx="4328745" cy="2314480"/>
              </a:xfrm>
              <a:prstGeom prst="rect">
                <a:avLst/>
              </a:prstGeom>
              <a:blipFill>
                <a:blip r:embed="rId3"/>
                <a:stretch>
                  <a:fillRect l="-8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3084448" y="238147"/>
            <a:ext cx="5957454" cy="483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kern="0" dirty="0" smtClean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K-Mean </a:t>
            </a:r>
            <a:r>
              <a:rPr lang="en-US" sz="2400" b="1" kern="0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sz="2400" b="1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sz="2400" b="1" kern="0" dirty="0" smtClean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kern="0" dirty="0">
              <a:solidFill>
                <a:srgbClr val="FF0000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45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17" y="4990174"/>
            <a:ext cx="1418705" cy="1425039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1444255" y="1828894"/>
            <a:ext cx="1640193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Iteration -2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551185"/>
              </p:ext>
            </p:extLst>
          </p:nvPr>
        </p:nvGraphicFramePr>
        <p:xfrm>
          <a:off x="1498958" y="2388595"/>
          <a:ext cx="5801855" cy="2326113"/>
        </p:xfrm>
        <a:graphic>
          <a:graphicData uri="http://schemas.openxmlformats.org/drawingml/2006/table">
            <a:tbl>
              <a:tblPr firstRow="1" firstCol="1" bandRow="1"/>
              <a:tblGrid>
                <a:gridCol w="914400">
                  <a:extLst>
                    <a:ext uri="{9D8B030D-6E8A-4147-A177-3AD203B41FA5}">
                      <a16:colId xmlns:a16="http://schemas.microsoft.com/office/drawing/2014/main" val="2832537554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1696984322"/>
                    </a:ext>
                  </a:extLst>
                </a:gridCol>
                <a:gridCol w="1922599">
                  <a:extLst>
                    <a:ext uri="{9D8B030D-6E8A-4147-A177-3AD203B41FA5}">
                      <a16:colId xmlns:a16="http://schemas.microsoft.com/office/drawing/2014/main" val="816202643"/>
                    </a:ext>
                  </a:extLst>
                </a:gridCol>
                <a:gridCol w="1206394">
                  <a:extLst>
                    <a:ext uri="{9D8B030D-6E8A-4147-A177-3AD203B41FA5}">
                      <a16:colId xmlns:a16="http://schemas.microsoft.com/office/drawing/2014/main" val="723056109"/>
                    </a:ext>
                  </a:extLst>
                </a:gridCol>
              </a:tblGrid>
              <a:tr h="6646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Cluster-1 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Centroid(2.5,5)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Cluster-2 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Centroid(5,6.33)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803003"/>
                  </a:ext>
                </a:extLst>
              </a:tr>
              <a:tr h="3323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A(3,4</a:t>
                      </a: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1.12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Bookman Old Style" panose="0205060405050502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3.8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Cluster-1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133741"/>
                  </a:ext>
                </a:extLst>
              </a:tr>
              <a:tr h="3323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B(6,7</a:t>
                      </a: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4.03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Bookman Old Style" panose="0205060405050502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1.208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Cluster-2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008845"/>
                  </a:ext>
                </a:extLst>
              </a:tr>
              <a:tr h="3323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C(4,5</a:t>
                      </a: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1.5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Bookman Old Style" panose="0205060405050502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1.66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Cluster-1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88236"/>
                  </a:ext>
                </a:extLst>
              </a:tr>
              <a:tr h="3323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D(5,7</a:t>
                      </a: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3.2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0.67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Cluster-2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927584"/>
                  </a:ext>
                </a:extLst>
              </a:tr>
              <a:tr h="3323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E(2,6</a:t>
                      </a: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1.12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Bookman Old Style" panose="0205060405050502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3.01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Cluster-1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5799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041902" y="690824"/>
            <a:ext cx="1321196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Side note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7783085" y="1197558"/>
                <a:ext cx="3569357" cy="214981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US" sz="1600" dirty="0" smtClean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(3−2.5)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(4−5)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1600" dirty="0" smtClean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1.12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(3−5)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(4−6.33)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=3.8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(6−2.5)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(7−5)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4.03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(6−5)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(7−6.33)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1.208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(4−2.5)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(5−5)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1.5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(4−5)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(5−6.33)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1600" dirty="0" smtClean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1.66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085" y="1197558"/>
                <a:ext cx="3569357" cy="2149819"/>
              </a:xfrm>
              <a:prstGeom prst="rect">
                <a:avLst/>
              </a:prstGeom>
              <a:blipFill>
                <a:blip r:embed="rId3"/>
                <a:stretch>
                  <a:fillRect l="-1026" b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777969" y="3347377"/>
                <a:ext cx="3574473" cy="146399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US" sz="1600" dirty="0" smtClean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(5−2.5)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(7−5)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3.2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(5−5)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(7−6.33)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0.67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(2−2.5)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(6−5)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1.12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(2−5)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(6−6.33)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3.01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969" y="3347377"/>
                <a:ext cx="3574473" cy="1463991"/>
              </a:xfrm>
              <a:prstGeom prst="rect">
                <a:avLst/>
              </a:prstGeom>
              <a:blipFill>
                <a:blip r:embed="rId4"/>
                <a:stretch>
                  <a:fillRect l="-1024"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3084448" y="238147"/>
            <a:ext cx="5957454" cy="483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kern="0" dirty="0" smtClean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K-Mean </a:t>
            </a:r>
            <a:r>
              <a:rPr lang="en-US" sz="2400" b="1" kern="0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sz="2400" b="1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sz="2400" b="1" kern="0" dirty="0" smtClean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kern="0" dirty="0">
              <a:solidFill>
                <a:srgbClr val="FF0000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115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17" y="4990174"/>
            <a:ext cx="1418705" cy="1425039"/>
          </a:xfrm>
          <a:prstGeom prst="rect">
            <a:avLst/>
          </a:prstGeom>
          <a:ln>
            <a:solidFill>
              <a:srgbClr val="FFC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081378" y="1924183"/>
                <a:ext cx="4397604" cy="323377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US" b="1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Centroid Modification: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b="1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Cluster-1</a:t>
                </a:r>
                <a:r>
                  <a:rPr lang="en-US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dirty="0" smtClean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dirty="0" smtClean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(3</a:t>
                </a: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4) </a:t>
                </a:r>
                <a:r>
                  <a:rPr lang="en-US" dirty="0" smtClean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C(4</a:t>
                </a: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5) </a:t>
                </a:r>
                <a:r>
                  <a:rPr lang="en-US" dirty="0" smtClean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E(2</a:t>
                </a: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6)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So, Centroid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3+4+2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4+5+6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(3, 5)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b="1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Cluster-2: </a:t>
                </a:r>
                <a:r>
                  <a:rPr lang="en-US" dirty="0" smtClean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B(</a:t>
                </a:r>
                <a:r>
                  <a:rPr lang="en-US" dirty="0" smtClean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6</a:t>
                </a: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7) </a:t>
                </a:r>
                <a:r>
                  <a:rPr lang="en-US" dirty="0" smtClean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D(5</a:t>
                </a: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7)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So, Centroid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6+7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7+5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(5.5, 7)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1378" y="1924183"/>
                <a:ext cx="4397604" cy="3233770"/>
              </a:xfrm>
              <a:prstGeom prst="rect">
                <a:avLst/>
              </a:prstGeom>
              <a:blipFill>
                <a:blip r:embed="rId3"/>
                <a:stretch>
                  <a:fillRect l="-1248" t="-566" b="-3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3103419" y="285742"/>
            <a:ext cx="5957454" cy="483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kern="0" dirty="0" smtClean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K-Mean </a:t>
            </a:r>
            <a:r>
              <a:rPr lang="en-US" sz="2400" b="1" kern="0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sz="2400" b="1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sz="2400" b="1" kern="0" dirty="0" smtClean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kern="0" dirty="0">
              <a:solidFill>
                <a:srgbClr val="FF0000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123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17" y="4990174"/>
            <a:ext cx="1418705" cy="1425039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1417082" y="1754764"/>
            <a:ext cx="1561646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Iteration -3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658184"/>
              </p:ext>
            </p:extLst>
          </p:nvPr>
        </p:nvGraphicFramePr>
        <p:xfrm>
          <a:off x="1541773" y="2265821"/>
          <a:ext cx="5623560" cy="2031037"/>
        </p:xfrm>
        <a:graphic>
          <a:graphicData uri="http://schemas.openxmlformats.org/drawingml/2006/table">
            <a:tbl>
              <a:tblPr firstRow="1" firstCol="1" bandRow="1"/>
              <a:tblGrid>
                <a:gridCol w="982980">
                  <a:extLst>
                    <a:ext uri="{9D8B030D-6E8A-4147-A177-3AD203B41FA5}">
                      <a16:colId xmlns:a16="http://schemas.microsoft.com/office/drawing/2014/main" val="4092758767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4225720097"/>
                    </a:ext>
                  </a:extLst>
                </a:gridCol>
                <a:gridCol w="1696475">
                  <a:extLst>
                    <a:ext uri="{9D8B030D-6E8A-4147-A177-3AD203B41FA5}">
                      <a16:colId xmlns:a16="http://schemas.microsoft.com/office/drawing/2014/main" val="1148416761"/>
                    </a:ext>
                  </a:extLst>
                </a:gridCol>
                <a:gridCol w="1401055">
                  <a:extLst>
                    <a:ext uri="{9D8B030D-6E8A-4147-A177-3AD203B41FA5}">
                      <a16:colId xmlns:a16="http://schemas.microsoft.com/office/drawing/2014/main" val="2262737207"/>
                    </a:ext>
                  </a:extLst>
                </a:gridCol>
              </a:tblGrid>
              <a:tr h="58029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Cluster-1 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Centroid(3,5)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Cluster-2 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Centroid(5.5, 7)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323557"/>
                  </a:ext>
                </a:extLst>
              </a:tr>
              <a:tr h="2901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A(3,4</a:t>
                      </a:r>
                      <a:r>
                        <a:rPr lang="en-US" sz="14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3.91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685910"/>
                  </a:ext>
                </a:extLst>
              </a:tr>
              <a:tr h="2901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B(6,7</a:t>
                      </a:r>
                      <a:r>
                        <a:rPr lang="en-US" sz="14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3.67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838593"/>
                  </a:ext>
                </a:extLst>
              </a:tr>
              <a:tr h="2901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C(4,5</a:t>
                      </a:r>
                      <a:r>
                        <a:rPr lang="en-US" sz="14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200987"/>
                  </a:ext>
                </a:extLst>
              </a:tr>
              <a:tr h="2901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D(5,7</a:t>
                      </a:r>
                      <a:r>
                        <a:rPr lang="en-US" sz="14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2.83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307700"/>
                  </a:ext>
                </a:extLst>
              </a:tr>
              <a:tr h="2901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E(2,6</a:t>
                      </a:r>
                      <a:r>
                        <a:rPr lang="en-US" sz="14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1.12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3.64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09985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695114" y="776821"/>
            <a:ext cx="1321196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Side note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797339" y="1190912"/>
                <a:ext cx="3356210" cy="214981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(3−3)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(4−5)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1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(3−5.5)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(4−7)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=3.91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(6−3)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(7−5)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3.67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(6−5.5)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(7−7)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0.5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(4−3)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(5−5)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1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(4−5.5)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(5−7)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2.5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7339" y="1190912"/>
                <a:ext cx="3356210" cy="2149819"/>
              </a:xfrm>
              <a:prstGeom prst="rect">
                <a:avLst/>
              </a:prstGeom>
              <a:blipFill>
                <a:blip r:embed="rId3"/>
                <a:stretch>
                  <a:fillRect l="-907" b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7797339" y="3340731"/>
                <a:ext cx="3356210" cy="146399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(5−3)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(7−5)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2.83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(5−5.5)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(7−7)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0.25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(2−3)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(6−5)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1.12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1600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sz="1600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(2−5.5)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(6−7)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3.64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7339" y="3340731"/>
                <a:ext cx="3356210" cy="1463991"/>
              </a:xfrm>
              <a:prstGeom prst="rect">
                <a:avLst/>
              </a:prstGeom>
              <a:blipFill>
                <a:blip r:embed="rId4"/>
                <a:stretch>
                  <a:fillRect l="-907"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3103419" y="285742"/>
            <a:ext cx="5957454" cy="483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kern="0" dirty="0" smtClean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K-Mean </a:t>
            </a:r>
            <a:r>
              <a:rPr lang="en-US" sz="2400" b="1" kern="0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sz="2400" b="1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sz="2400" b="1" kern="0" dirty="0" smtClean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kern="0" dirty="0">
              <a:solidFill>
                <a:srgbClr val="FF0000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794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17" y="4990174"/>
            <a:ext cx="1418705" cy="1425039"/>
          </a:xfrm>
          <a:prstGeom prst="rect">
            <a:avLst/>
          </a:prstGeom>
          <a:ln>
            <a:solidFill>
              <a:srgbClr val="FFC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154657" y="1312995"/>
                <a:ext cx="4224997" cy="323377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US" b="1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Centroid Modification: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b="1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Cluster-1: </a:t>
                </a:r>
                <a:r>
                  <a:rPr lang="en-US" dirty="0" smtClean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dirty="0" smtClean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(3</a:t>
                </a: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4) </a:t>
                </a:r>
                <a:r>
                  <a:rPr lang="en-US" dirty="0" smtClean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C(4</a:t>
                </a: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5) </a:t>
                </a:r>
                <a:r>
                  <a:rPr lang="en-US" dirty="0" smtClean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E(2</a:t>
                </a: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6)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So, Centroid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3+4+2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4+5+6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b="1" dirty="0">
                    <a:solidFill>
                      <a:srgbClr val="FF0000"/>
                    </a:solidFill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(3, 5)</a:t>
                </a:r>
                <a:endParaRPr lang="en-US" b="1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Cluster-2: </a:t>
                </a:r>
                <a:r>
                  <a:rPr lang="en-US" dirty="0" smtClean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B(</a:t>
                </a:r>
                <a:r>
                  <a:rPr lang="en-US" dirty="0" smtClean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6</a:t>
                </a: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7) </a:t>
                </a:r>
                <a:r>
                  <a:rPr lang="en-US" dirty="0" smtClean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D(5</a:t>
                </a: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7)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So, Centroid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6+7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7+5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b="1" dirty="0">
                    <a:solidFill>
                      <a:srgbClr val="FF0000"/>
                    </a:solidFill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(5.5, 7)</a:t>
                </a:r>
                <a:endParaRPr lang="en-US" b="1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4657" y="1312995"/>
                <a:ext cx="4224997" cy="3233770"/>
              </a:xfrm>
              <a:prstGeom prst="rect">
                <a:avLst/>
              </a:prstGeom>
              <a:blipFill>
                <a:blip r:embed="rId3"/>
                <a:stretch>
                  <a:fillRect l="-1151" t="-18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5406182" y="4903129"/>
            <a:ext cx="1721946" cy="3908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solidFill>
                  <a:srgbClr val="00B050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Final Output</a:t>
            </a:r>
            <a:endParaRPr lang="en-US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954492"/>
              </p:ext>
            </p:extLst>
          </p:nvPr>
        </p:nvGraphicFramePr>
        <p:xfrm>
          <a:off x="2982350" y="5413514"/>
          <a:ext cx="6569613" cy="841248"/>
        </p:xfrm>
        <a:graphic>
          <a:graphicData uri="http://schemas.openxmlformats.org/drawingml/2006/table">
            <a:tbl>
              <a:tblPr firstRow="1" firstCol="1" bandRow="1"/>
              <a:tblGrid>
                <a:gridCol w="2173551">
                  <a:extLst>
                    <a:ext uri="{9D8B030D-6E8A-4147-A177-3AD203B41FA5}">
                      <a16:colId xmlns:a16="http://schemas.microsoft.com/office/drawing/2014/main" val="2003428322"/>
                    </a:ext>
                  </a:extLst>
                </a:gridCol>
                <a:gridCol w="2195064">
                  <a:extLst>
                    <a:ext uri="{9D8B030D-6E8A-4147-A177-3AD203B41FA5}">
                      <a16:colId xmlns:a16="http://schemas.microsoft.com/office/drawing/2014/main" val="268732144"/>
                    </a:ext>
                  </a:extLst>
                </a:gridCol>
                <a:gridCol w="2200998">
                  <a:extLst>
                    <a:ext uri="{9D8B030D-6E8A-4147-A177-3AD203B41FA5}">
                      <a16:colId xmlns:a16="http://schemas.microsoft.com/office/drawing/2014/main" val="4582695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</a:t>
                      </a:r>
                      <a:endParaRPr lang="en-US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Centroid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838792"/>
                  </a:ext>
                </a:extLst>
              </a:tr>
              <a:tr h="629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A(3,4</a:t>
                      </a: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1600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C(4,5</a:t>
                      </a: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1600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E(2,6</a:t>
                      </a: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(3,5)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892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Bookman Old Style" panose="0205060405050502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B(</a:t>
                      </a:r>
                      <a:r>
                        <a:rPr lang="en-US" sz="1600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6,7</a:t>
                      </a: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1600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D(5,7</a:t>
                      </a: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Cluster-2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(5.5, 7)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881193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103419" y="473485"/>
            <a:ext cx="5957454" cy="483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kern="0" dirty="0" smtClean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K-Mean </a:t>
            </a:r>
            <a:r>
              <a:rPr lang="en-US" sz="2400" b="1" kern="0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sz="2400" b="1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sz="2400" b="1" kern="0" dirty="0" smtClean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kern="0" dirty="0">
              <a:solidFill>
                <a:srgbClr val="FF0000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58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17" y="4990174"/>
            <a:ext cx="1418705" cy="1425039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2" name="Rectangle 1"/>
          <p:cNvSpPr/>
          <p:nvPr/>
        </p:nvSpPr>
        <p:spPr>
          <a:xfrm>
            <a:off x="2592739" y="1884742"/>
            <a:ext cx="7757267" cy="390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Decide which cluster contain the input data M(5,4)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2592739" y="2882993"/>
                <a:ext cx="7541349" cy="15009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Dist1=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(5−3)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(4−5)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2.236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Dist2=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(5−5.5)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(4−7)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=3.082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b="1" dirty="0">
                    <a:solidFill>
                      <a:srgbClr val="00B050"/>
                    </a:solidFill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Since </a:t>
                </a:r>
                <a:r>
                  <a:rPr lang="en-US" b="1" dirty="0">
                    <a:solidFill>
                      <a:srgbClr val="00B050"/>
                    </a:solidFill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Dist1&lt; Dist2, given input data </a:t>
                </a:r>
                <a:r>
                  <a:rPr lang="en-US" b="1" smtClean="0">
                    <a:solidFill>
                      <a:srgbClr val="00B050"/>
                    </a:solidFill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M(5,4</a:t>
                </a:r>
                <a:r>
                  <a:rPr lang="en-US" b="1" smtClean="0">
                    <a:solidFill>
                      <a:srgbClr val="00B050"/>
                    </a:solidFill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</a:t>
                </a:r>
                <a:r>
                  <a:rPr lang="en-US" b="1" dirty="0">
                    <a:solidFill>
                      <a:srgbClr val="00B050"/>
                    </a:solidFill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in cluster-1</a:t>
                </a:r>
                <a:endParaRPr lang="en-US" b="1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739" y="2882993"/>
                <a:ext cx="7541349" cy="1500924"/>
              </a:xfrm>
              <a:prstGeom prst="rect">
                <a:avLst/>
              </a:prstGeom>
              <a:blipFill>
                <a:blip r:embed="rId3"/>
                <a:stretch>
                  <a:fillRect l="-647" b="-4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3103419" y="473485"/>
            <a:ext cx="5957454" cy="483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kern="0" dirty="0" smtClean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K-Mean </a:t>
            </a:r>
            <a:r>
              <a:rPr lang="en-US" sz="2400" b="1" kern="0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sz="2400" b="1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sz="2400" b="1" kern="0" dirty="0" smtClean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kern="0" dirty="0">
              <a:solidFill>
                <a:srgbClr val="FF0000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92739" y="1544000"/>
            <a:ext cx="1167307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92739" y="2452043"/>
            <a:ext cx="1289135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solidFill>
                  <a:srgbClr val="00B050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Answer:  </a:t>
            </a:r>
          </a:p>
        </p:txBody>
      </p:sp>
    </p:spTree>
    <p:extLst>
      <p:ext uri="{BB962C8B-B14F-4D97-AF65-F5344CB8AC3E}">
        <p14:creationId xmlns:p14="http://schemas.microsoft.com/office/powerpoint/2010/main" val="191382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17" y="4990174"/>
            <a:ext cx="1418705" cy="1425039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2860431" y="1559223"/>
            <a:ext cx="2435282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Centroid Selection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87043"/>
              </p:ext>
            </p:extLst>
          </p:nvPr>
        </p:nvGraphicFramePr>
        <p:xfrm>
          <a:off x="1322015" y="2085440"/>
          <a:ext cx="6291389" cy="1950924"/>
        </p:xfrm>
        <a:graphic>
          <a:graphicData uri="http://schemas.openxmlformats.org/drawingml/2006/table">
            <a:tbl>
              <a:tblPr firstRow="1" firstCol="1" bandRow="1"/>
              <a:tblGrid>
                <a:gridCol w="780030">
                  <a:extLst>
                    <a:ext uri="{9D8B030D-6E8A-4147-A177-3AD203B41FA5}">
                      <a16:colId xmlns:a16="http://schemas.microsoft.com/office/drawing/2014/main" val="2438721359"/>
                    </a:ext>
                  </a:extLst>
                </a:gridCol>
                <a:gridCol w="831179">
                  <a:extLst>
                    <a:ext uri="{9D8B030D-6E8A-4147-A177-3AD203B41FA5}">
                      <a16:colId xmlns:a16="http://schemas.microsoft.com/office/drawing/2014/main" val="1254406888"/>
                    </a:ext>
                  </a:extLst>
                </a:gridCol>
                <a:gridCol w="1086927">
                  <a:extLst>
                    <a:ext uri="{9D8B030D-6E8A-4147-A177-3AD203B41FA5}">
                      <a16:colId xmlns:a16="http://schemas.microsoft.com/office/drawing/2014/main" val="169917432"/>
                    </a:ext>
                  </a:extLst>
                </a:gridCol>
                <a:gridCol w="1214801">
                  <a:extLst>
                    <a:ext uri="{9D8B030D-6E8A-4147-A177-3AD203B41FA5}">
                      <a16:colId xmlns:a16="http://schemas.microsoft.com/office/drawing/2014/main" val="1115855811"/>
                    </a:ext>
                  </a:extLst>
                </a:gridCol>
                <a:gridCol w="1150864">
                  <a:extLst>
                    <a:ext uri="{9D8B030D-6E8A-4147-A177-3AD203B41FA5}">
                      <a16:colId xmlns:a16="http://schemas.microsoft.com/office/drawing/2014/main" val="3643255244"/>
                    </a:ext>
                  </a:extLst>
                </a:gridCol>
                <a:gridCol w="1227588">
                  <a:extLst>
                    <a:ext uri="{9D8B030D-6E8A-4147-A177-3AD203B41FA5}">
                      <a16:colId xmlns:a16="http://schemas.microsoft.com/office/drawing/2014/main" val="3181618522"/>
                    </a:ext>
                  </a:extLst>
                </a:gridCol>
              </a:tblGrid>
              <a:tr h="3251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A(3,4</a:t>
                      </a: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B(6,7</a:t>
                      </a: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C(4,5</a:t>
                      </a: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D(5,7</a:t>
                      </a: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E(2,6</a:t>
                      </a: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606327"/>
                  </a:ext>
                </a:extLst>
              </a:tr>
              <a:tr h="3251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A(3,4</a:t>
                      </a: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sng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1" u="sng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sng" dirty="0">
                          <a:effectLst/>
                          <a:latin typeface="Bookman Old Style" panose="0205060405050502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4.242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1.414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3.605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2.236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5926707"/>
                  </a:ext>
                </a:extLst>
              </a:tr>
              <a:tr h="3251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B(6,7</a:t>
                      </a: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u="none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2.828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4.123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3769601"/>
                  </a:ext>
                </a:extLst>
              </a:tr>
              <a:tr h="3251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C(4,5</a:t>
                      </a: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2.24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243263"/>
                  </a:ext>
                </a:extLst>
              </a:tr>
              <a:tr h="3251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D(5,7</a:t>
                      </a: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3.16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568020"/>
                  </a:ext>
                </a:extLst>
              </a:tr>
              <a:tr h="3251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E(2,6</a:t>
                      </a: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25126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738790" y="1159811"/>
                <a:ext cx="3673075" cy="176939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dirty="0" err="1"/>
                  <a:t>Dist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(3−6)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(4−7)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/>
                  <a:t>= 4.242</a:t>
                </a:r>
              </a:p>
              <a:p>
                <a:r>
                  <a:rPr lang="en-US" dirty="0" err="1"/>
                  <a:t>Dist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(3−4)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(4−5)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/>
                  <a:t>=1.414</a:t>
                </a:r>
              </a:p>
              <a:p>
                <a:r>
                  <a:rPr lang="en-US" dirty="0" err="1"/>
                  <a:t>Dist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(3−5)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(4−7)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/>
                  <a:t>= 3.605</a:t>
                </a:r>
              </a:p>
              <a:p>
                <a:r>
                  <a:rPr lang="en-US" dirty="0" err="1"/>
                  <a:t>Dist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(3−2)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(4−6)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/>
                  <a:t>= 2.236</a:t>
                </a:r>
              </a:p>
              <a:p>
                <a:r>
                  <a:rPr lang="en-US" dirty="0" err="1"/>
                  <a:t>Dist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(6−4)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(7−5)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/>
                  <a:t>= 2.828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8790" y="1159811"/>
                <a:ext cx="3673075" cy="1769395"/>
              </a:xfrm>
              <a:prstGeom prst="rect">
                <a:avLst/>
              </a:prstGeom>
              <a:blipFill>
                <a:blip r:embed="rId3"/>
                <a:stretch>
                  <a:fillRect l="-1327" b="-4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7750000" y="2814783"/>
                <a:ext cx="3661865" cy="202106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US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(6−5)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(7−7)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1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(6−2)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(7−6)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4.123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(4−5)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(5−7)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2.24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(4−2)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(5−6)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2.2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dirty="0" err="1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</a:t>
                </a:r>
                <a:r>
                  <a:rPr lang="en-US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(5−2)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(7−6)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3.16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000" y="2814783"/>
                <a:ext cx="3661865" cy="2021066"/>
              </a:xfrm>
              <a:prstGeom prst="rect">
                <a:avLst/>
              </a:prstGeom>
              <a:blipFill>
                <a:blip r:embed="rId4"/>
                <a:stretch>
                  <a:fillRect l="-1331" r="-499" b="-2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8907516" y="798953"/>
            <a:ext cx="1335622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Side Note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82994" y="4351733"/>
            <a:ext cx="3311770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b="1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So, Initial centroid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Cluster 1: (3, 4)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Cluster 2: (6, 7)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60431" y="287217"/>
            <a:ext cx="6941127" cy="517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kern="0" dirty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Modified K-Mean </a:t>
            </a:r>
            <a:r>
              <a:rPr lang="en-US" sz="2400" b="1" kern="0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sz="2400" b="1" dirty="0" smtClean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 smtClean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sz="2400" b="1" kern="0" dirty="0" smtClean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kern="0" dirty="0">
              <a:solidFill>
                <a:srgbClr val="FF0000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32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345</Words>
  <Application>Microsoft Office PowerPoint</Application>
  <PresentationFormat>Widescreen</PresentationFormat>
  <Paragraphs>224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Bookman Old Style</vt:lpstr>
      <vt:lpstr>Calibri</vt:lpstr>
      <vt:lpstr>Calibri Light</vt:lpstr>
      <vt:lpstr>Cambria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Aksadur Rahman</dc:creator>
  <cp:lastModifiedBy>Md. Aksadur Rahman</cp:lastModifiedBy>
  <cp:revision>34</cp:revision>
  <dcterms:created xsi:type="dcterms:W3CDTF">2021-08-10T15:37:54Z</dcterms:created>
  <dcterms:modified xsi:type="dcterms:W3CDTF">2021-08-14T06:32:45Z</dcterms:modified>
</cp:coreProperties>
</file>