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44" autoAdjust="0"/>
    <p:restoredTop sz="94660"/>
  </p:normalViewPr>
  <p:slideViewPr>
    <p:cSldViewPr snapToGrid="0">
      <p:cViewPr varScale="1">
        <p:scale>
          <a:sx n="64" d="100"/>
          <a:sy n="64" d="100"/>
        </p:scale>
        <p:origin x="74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4F9A9-CB77-4A94-AEE0-C37C94C95FFF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4CA278-F2FA-46D6-ABA9-10A5976487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64728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4F9A9-CB77-4A94-AEE0-C37C94C95FFF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4CA278-F2FA-46D6-ABA9-10A5976487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457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4F9A9-CB77-4A94-AEE0-C37C94C95FFF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4CA278-F2FA-46D6-ABA9-10A5976487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14661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4F9A9-CB77-4A94-AEE0-C37C94C95FFF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4CA278-F2FA-46D6-ABA9-10A5976487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9773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4F9A9-CB77-4A94-AEE0-C37C94C95FFF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4CA278-F2FA-46D6-ABA9-10A5976487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1958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4F9A9-CB77-4A94-AEE0-C37C94C95FFF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4CA278-F2FA-46D6-ABA9-10A5976487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2774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4F9A9-CB77-4A94-AEE0-C37C94C95FFF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4CA278-F2FA-46D6-ABA9-10A5976487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77308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4F9A9-CB77-4A94-AEE0-C37C94C95FFF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4CA278-F2FA-46D6-ABA9-10A5976487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75169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4F9A9-CB77-4A94-AEE0-C37C94C95FFF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4CA278-F2FA-46D6-ABA9-10A5976487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34962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4F9A9-CB77-4A94-AEE0-C37C94C95FFF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4CA278-F2FA-46D6-ABA9-10A5976487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5197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4F9A9-CB77-4A94-AEE0-C37C94C95FFF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4CA278-F2FA-46D6-ABA9-10A5976487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02240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2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B4F9A9-CB77-4A94-AEE0-C37C94C95FFF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4CA278-F2FA-46D6-ABA9-10A5976487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7682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03419" y="473485"/>
            <a:ext cx="5957454" cy="4831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lang="en-US" sz="2400" b="1" kern="0" dirty="0">
                <a:solidFill>
                  <a:srgbClr val="FF0000"/>
                </a:solidFill>
                <a:latin typeface="Bookman Old Style" panose="0205060405050502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Decision Tree </a:t>
            </a:r>
            <a:r>
              <a:rPr lang="en-US" sz="2400" b="1" kern="0" dirty="0">
                <a:latin typeface="Bookman Old Style" panose="0205060405050502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Classification</a:t>
            </a:r>
            <a:endParaRPr lang="en-US" sz="2400" b="1" kern="0" dirty="0"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455023" y="1227995"/>
            <a:ext cx="867294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dirty="0">
                <a:solidFill>
                  <a:srgbClr val="000000"/>
                </a:solidFill>
                <a:latin typeface="inter-regular"/>
              </a:rPr>
              <a:t>Decision Tree is a </a:t>
            </a:r>
            <a:r>
              <a:rPr lang="en-US" b="1" dirty="0">
                <a:solidFill>
                  <a:srgbClr val="000000"/>
                </a:solidFill>
                <a:latin typeface="inter-bold"/>
              </a:rPr>
              <a:t>Supervised learning technique </a:t>
            </a:r>
            <a:r>
              <a:rPr lang="en-US" dirty="0">
                <a:solidFill>
                  <a:srgbClr val="000000"/>
                </a:solidFill>
                <a:latin typeface="inter-regular"/>
              </a:rPr>
              <a:t>that can be used for both classification and Regression problems, but mostly it is preferred for solving classification problems.</a:t>
            </a:r>
            <a:endParaRPr lang="en-US" dirty="0"/>
          </a:p>
        </p:txBody>
      </p:sp>
      <p:pic>
        <p:nvPicPr>
          <p:cNvPr id="6146" name="Picture 2" descr="Decision Tree classifie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2117" y="2422689"/>
            <a:ext cx="7481950" cy="3992524"/>
          </a:xfrm>
          <a:prstGeom prst="rect">
            <a:avLst/>
          </a:prstGeom>
          <a:noFill/>
          <a:ln>
            <a:solidFill>
              <a:schemeClr val="accent2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653847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6078458"/>
              </p:ext>
            </p:extLst>
          </p:nvPr>
        </p:nvGraphicFramePr>
        <p:xfrm>
          <a:off x="3103419" y="1867879"/>
          <a:ext cx="6525490" cy="4103429"/>
        </p:xfrm>
        <a:graphic>
          <a:graphicData uri="http://schemas.openxmlformats.org/drawingml/2006/table">
            <a:tbl>
              <a:tblPr/>
              <a:tblGrid>
                <a:gridCol w="1732911">
                  <a:extLst>
                    <a:ext uri="{9D8B030D-6E8A-4147-A177-3AD203B41FA5}">
                      <a16:colId xmlns:a16="http://schemas.microsoft.com/office/drawing/2014/main" val="2165503650"/>
                    </a:ext>
                  </a:extLst>
                </a:gridCol>
                <a:gridCol w="1705833">
                  <a:extLst>
                    <a:ext uri="{9D8B030D-6E8A-4147-A177-3AD203B41FA5}">
                      <a16:colId xmlns:a16="http://schemas.microsoft.com/office/drawing/2014/main" val="3306361404"/>
                    </a:ext>
                  </a:extLst>
                </a:gridCol>
                <a:gridCol w="1678757">
                  <a:extLst>
                    <a:ext uri="{9D8B030D-6E8A-4147-A177-3AD203B41FA5}">
                      <a16:colId xmlns:a16="http://schemas.microsoft.com/office/drawing/2014/main" val="2572292592"/>
                    </a:ext>
                  </a:extLst>
                </a:gridCol>
                <a:gridCol w="1407989">
                  <a:extLst>
                    <a:ext uri="{9D8B030D-6E8A-4147-A177-3AD203B41FA5}">
                      <a16:colId xmlns:a16="http://schemas.microsoft.com/office/drawing/2014/main" val="1489239538"/>
                    </a:ext>
                  </a:extLst>
                </a:gridCol>
              </a:tblGrid>
              <a:tr h="373039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Weather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Humidity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Wind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Play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7242494"/>
                  </a:ext>
                </a:extLst>
              </a:tr>
              <a:tr h="373039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Sunny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High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Week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67546727"/>
                  </a:ext>
                </a:extLst>
              </a:tr>
              <a:tr h="373039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Sunny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Normal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Week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7889011"/>
                  </a:ext>
                </a:extLst>
              </a:tr>
              <a:tr h="373039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Sunny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Normal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Strong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7181561"/>
                  </a:ext>
                </a:extLst>
              </a:tr>
              <a:tr h="373039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Cloudy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High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Week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47407123"/>
                  </a:ext>
                </a:extLst>
              </a:tr>
              <a:tr h="373039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Cloudy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High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Strong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0207575"/>
                  </a:ext>
                </a:extLst>
              </a:tr>
              <a:tr h="373039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Cloudy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Normal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Strong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83567526"/>
                  </a:ext>
                </a:extLst>
              </a:tr>
              <a:tr h="373039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Cloudy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Normal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Week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3722055"/>
                  </a:ext>
                </a:extLst>
              </a:tr>
              <a:tr h="373039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Rainy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High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Week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0872170"/>
                  </a:ext>
                </a:extLst>
              </a:tr>
              <a:tr h="373039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Rainy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Normal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Strong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1510039"/>
                  </a:ext>
                </a:extLst>
              </a:tr>
              <a:tr h="373039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Rainy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Normal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Week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5210531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3103419" y="473485"/>
            <a:ext cx="5957454" cy="4831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lang="en-US" sz="2400" b="1" kern="0" dirty="0">
                <a:solidFill>
                  <a:srgbClr val="FF0000"/>
                </a:solidFill>
                <a:latin typeface="Bookman Old Style" panose="0205060405050502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Decision Tree </a:t>
            </a:r>
            <a:r>
              <a:rPr lang="en-US" sz="2400" b="1" kern="0" dirty="0">
                <a:latin typeface="Bookman Old Style" panose="0205060405050502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Classification</a:t>
            </a:r>
            <a:endParaRPr lang="en-US" sz="2400" b="1" kern="0" dirty="0">
              <a:solidFill>
                <a:srgbClr val="FF0000"/>
              </a:solidFill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895601" y="1026315"/>
            <a:ext cx="1525610" cy="4581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6000"/>
              </a:lnSpc>
            </a:pPr>
            <a:r>
              <a:rPr lang="en-US" sz="2400" b="1" dirty="0">
                <a:solidFill>
                  <a:schemeClr val="accent5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Exercise: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endParaRPr lang="en-US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992583" y="1428857"/>
            <a:ext cx="5205271" cy="3859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6000"/>
              </a:lnSpc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Make a decision tree based on following training data.</a:t>
            </a:r>
            <a:endParaRPr lang="en-US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93552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3283528" y="1828348"/>
                <a:ext cx="6359236" cy="4433458"/>
              </a:xfrm>
              <a:prstGeom prst="rect">
                <a:avLst/>
              </a:prstGeom>
              <a:ln>
                <a:solidFill>
                  <a:schemeClr val="accent2">
                    <a:lumMod val="75000"/>
                  </a:schemeClr>
                </a:solidFill>
              </a:ln>
            </p:spPr>
            <p:txBody>
              <a:bodyPr wrap="square">
                <a:sp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b="1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Step to Follow</a:t>
                </a:r>
                <a:endParaRPr lang="en-US" sz="12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R="0" lvl="0">
                  <a:lnSpc>
                    <a:spcPct val="107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1.  Choose a target attribute </a:t>
                </a:r>
                <a:endParaRPr lang="en-US" sz="12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457200" marR="0">
                  <a:lnSpc>
                    <a:spcPct val="107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 </a:t>
                </a:r>
                <a:endParaRPr lang="en-US" sz="12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</a:pPr>
                <a:r>
                  <a:rPr lang="en-US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2.  Calculate I.G (Information Gain) of that target attribute using  </a:t>
                </a:r>
              </a:p>
              <a:p>
                <a:pPr>
                  <a:lnSpc>
                    <a:spcPct val="107000"/>
                  </a:lnSpc>
                </a:pPr>
                <a:r>
                  <a:rPr lang="en-US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    following formula</a:t>
                </a:r>
              </a:p>
              <a:p>
                <a:pPr marL="342900" marR="0" lvl="0" indent="-342900">
                  <a:lnSpc>
                    <a:spcPct val="107000"/>
                  </a:lnSpc>
                  <a:spcBef>
                    <a:spcPts val="0"/>
                  </a:spcBef>
                  <a:spcAft>
                    <a:spcPts val="0"/>
                  </a:spcAft>
                  <a:buFont typeface="+mj-lt"/>
                  <a:buAutoNum type="arabicPeriod"/>
                </a:pPr>
                <a:endParaRPr lang="en-US" sz="12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457200" lvl="0">
                  <a:lnSpc>
                    <a:spcPct val="107000"/>
                  </a:lnSpc>
                </a:pPr>
                <a:r>
                  <a:rPr lang="en-US" sz="2400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 </a:t>
                </a:r>
                <a14:m>
                  <m:oMath xmlns:m="http://schemas.openxmlformats.org/officeDocument/2006/math"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</a:rPr>
                          <m:t>P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</a:rPr>
                          <m:t>P</m:t>
                        </m:r>
                        <m:r>
                          <a:rPr lang="en-US" sz="240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</a:rPr>
                          <m:t>N</m:t>
                        </m:r>
                      </m:den>
                    </m:f>
                  </m:oMath>
                </a14:m>
                <a:r>
                  <a:rPr lang="en-US" sz="2400" dirty="0"/>
                  <a:t> log</a:t>
                </a:r>
                <a:r>
                  <a:rPr lang="en-US" sz="2400" i="1" dirty="0"/>
                  <a:t>2</a:t>
                </a:r>
                <a:r>
                  <a:rPr lang="en-US" sz="2400" dirty="0"/>
                  <a:t>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</a:rPr>
                          <m:t>P</m:t>
                        </m:r>
                      </m:num>
                      <m:den>
                        <m:r>
                          <a:rPr lang="en-US" sz="2400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</a:rPr>
                          <m:t>P</m:t>
                        </m:r>
                        <m:r>
                          <a:rPr lang="en-US" sz="240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</a:rPr>
                          <m:t>N</m:t>
                        </m:r>
                      </m:den>
                    </m:f>
                  </m:oMath>
                </a14:m>
                <a:r>
                  <a:rPr lang="en-US" sz="2400" dirty="0"/>
                  <a:t>)</a:t>
                </a:r>
                <a:r>
                  <a:rPr lang="en-US" sz="2400" i="1" dirty="0"/>
                  <a:t> -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</a:rPr>
                          <m:t>N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</a:rPr>
                          <m:t>N</m:t>
                        </m:r>
                        <m:r>
                          <a:rPr lang="en-US" sz="240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</a:rPr>
                          <m:t>P</m:t>
                        </m:r>
                      </m:den>
                    </m:f>
                  </m:oMath>
                </a14:m>
                <a:r>
                  <a:rPr lang="en-US" sz="2400" dirty="0"/>
                  <a:t> log</a:t>
                </a:r>
                <a:r>
                  <a:rPr lang="en-US" sz="2400" i="1" dirty="0"/>
                  <a:t>2</a:t>
                </a:r>
                <a:r>
                  <a:rPr lang="en-US" sz="2400" dirty="0"/>
                  <a:t>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</a:rPr>
                          <m:t>N</m:t>
                        </m:r>
                      </m:num>
                      <m:den>
                        <m:r>
                          <a:rPr lang="en-US" sz="2400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</a:rPr>
                          <m:t>N</m:t>
                        </m:r>
                        <m:r>
                          <a:rPr lang="en-US" sz="240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</a:rPr>
                          <m:t>P</m:t>
                        </m:r>
                      </m:den>
                    </m:f>
                  </m:oMath>
                </a14:m>
                <a:r>
                  <a:rPr lang="en-US" sz="2400" dirty="0"/>
                  <a:t>)</a:t>
                </a:r>
                <a:endParaRPr lang="en-US" sz="24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457200" marR="0">
                  <a:lnSpc>
                    <a:spcPct val="107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 </a:t>
                </a:r>
                <a:endParaRPr lang="en-US" sz="12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R="0" lvl="0">
                  <a:lnSpc>
                    <a:spcPct val="107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3.  Calculate Entropy of other attributes using following formula</a:t>
                </a:r>
                <a:endParaRPr lang="en-US" sz="12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457200" marR="0">
                  <a:lnSpc>
                    <a:spcPct val="107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E(A)  =  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grow m:val="on"/>
                        <m:ctrlPr>
                          <a:rPr lang="en-US" sz="2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US" sz="28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l</m:t>
                        </m:r>
                        <m:r>
                          <a:rPr lang="en-US" sz="28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=1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sz="28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n</m:t>
                        </m:r>
                      </m:sup>
                      <m:e>
                        <m:r>
                          <a:rPr lang="en-US" sz="28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Arial" panose="020B0604020202020204" pitchFamily="34" charset="0"/>
                          </a:rPr>
                          <m:t>    </m:t>
                        </m:r>
                        <m:f>
                          <m:fPr>
                            <m:ctrlPr>
                              <a:rPr lang="en-US" sz="2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US" sz="28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  <m:t>Pi</m:t>
                            </m:r>
                            <m:r>
                              <a:rPr lang="en-US" sz="28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US" sz="28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  <m:t>Ni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US" sz="28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  <m:t>P</m:t>
                            </m:r>
                            <m:r>
                              <a:rPr lang="en-US" sz="28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US" sz="28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Arial" panose="020B0604020202020204" pitchFamily="34" charset="0"/>
                              </a:rPr>
                              <m:t>N</m:t>
                            </m:r>
                          </m:den>
                        </m:f>
                      </m:e>
                    </m:nary>
                    <m:r>
                      <a:rPr lang="en-US" sz="28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Arial" panose="020B0604020202020204" pitchFamily="34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8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Arial" panose="020B0604020202020204" pitchFamily="34" charset="0"/>
                      </a:rPr>
                      <m:t>X</m:t>
                    </m:r>
                    <m:r>
                      <a:rPr lang="en-US" sz="28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Arial" panose="020B0604020202020204" pitchFamily="34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8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Arial" panose="020B0604020202020204" pitchFamily="34" charset="0"/>
                      </a:rPr>
                      <m:t>I</m:t>
                    </m:r>
                    <m:r>
                      <a:rPr lang="en-US" sz="28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Arial" panose="020B0604020202020204" pitchFamily="34" charset="0"/>
                      </a:rPr>
                      <m:t> (</m:t>
                    </m:r>
                    <m:r>
                      <m:rPr>
                        <m:sty m:val="p"/>
                      </m:rPr>
                      <a:rPr lang="en-US" sz="28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Arial" panose="020B0604020202020204" pitchFamily="34" charset="0"/>
                      </a:rPr>
                      <m:t>PiNi</m:t>
                    </m:r>
                    <m:r>
                      <a:rPr lang="en-US" sz="28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r>
                  <a:rPr lang="en-US" sz="2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457200" marR="0">
                  <a:lnSpc>
                    <a:spcPct val="107000"/>
                  </a:lnSpc>
                  <a:spcBef>
                    <a:spcPts val="0"/>
                  </a:spcBef>
                  <a:spcAft>
                    <a:spcPts val="0"/>
                  </a:spcAft>
                </a:pPr>
                <a:endParaRPr lang="en-US" sz="12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R="0" lvl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4.  Subtract E(A) from I.G of target attribute for find out the gain </a:t>
                </a:r>
                <a:endParaRPr lang="en-US" sz="12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3528" y="1828348"/>
                <a:ext cx="6359236" cy="4433458"/>
              </a:xfrm>
              <a:prstGeom prst="rect">
                <a:avLst/>
              </a:prstGeom>
              <a:blipFill>
                <a:blip r:embed="rId4"/>
                <a:stretch>
                  <a:fillRect l="-766" t="-549" b="-823"/>
                </a:stretch>
              </a:blipFill>
              <a:ln>
                <a:solidFill>
                  <a:schemeClr val="accent2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3103419" y="473485"/>
            <a:ext cx="5957454" cy="4831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lang="en-US" sz="2400" b="1" kern="0" dirty="0">
                <a:solidFill>
                  <a:srgbClr val="FF0000"/>
                </a:solidFill>
                <a:latin typeface="Bookman Old Style" panose="0205060405050502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Decision Tree </a:t>
            </a:r>
            <a:r>
              <a:rPr lang="en-US" sz="2400" b="1" kern="0" dirty="0">
                <a:latin typeface="Bookman Old Style" panose="0205060405050502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Classification</a:t>
            </a:r>
            <a:endParaRPr lang="en-US" sz="2400" b="1" kern="0" dirty="0">
              <a:solidFill>
                <a:srgbClr val="FF0000"/>
              </a:solidFill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103419" y="1121495"/>
            <a:ext cx="1194558" cy="4838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6000"/>
              </a:lnSpc>
            </a:pPr>
            <a:r>
              <a:rPr lang="en-US" sz="2400" b="1" dirty="0">
                <a:solidFill>
                  <a:schemeClr val="accent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Answer</a:t>
            </a:r>
          </a:p>
        </p:txBody>
      </p:sp>
    </p:spTree>
    <p:extLst>
      <p:ext uri="{BB962C8B-B14F-4D97-AF65-F5344CB8AC3E}">
        <p14:creationId xmlns:p14="http://schemas.microsoft.com/office/powerpoint/2010/main" val="20731944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2828346" y="2255042"/>
                <a:ext cx="4889480" cy="66140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457200" lvl="0">
                  <a:lnSpc>
                    <a:spcPct val="107000"/>
                  </a:lnSpc>
                </a:pPr>
                <a:r>
                  <a:rPr lang="en-US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 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</a:rPr>
                          <m:t>P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</a:rPr>
                          <m:t>P</m:t>
                        </m:r>
                        <m:r>
                          <a:rPr lang="en-US" sz="240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</a:rPr>
                          <m:t>N</m:t>
                        </m:r>
                      </m:den>
                    </m:f>
                  </m:oMath>
                </a14:m>
                <a:r>
                  <a:rPr lang="en-US" sz="2400" dirty="0"/>
                  <a:t> log</a:t>
                </a:r>
                <a:r>
                  <a:rPr lang="en-US" sz="2400" i="1" dirty="0"/>
                  <a:t>2</a:t>
                </a:r>
                <a:r>
                  <a:rPr lang="en-US" sz="2400" dirty="0"/>
                  <a:t>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</a:rPr>
                          <m:t>P</m:t>
                        </m:r>
                      </m:num>
                      <m:den>
                        <m:r>
                          <a:rPr lang="en-US" sz="2400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</a:rPr>
                          <m:t>P</m:t>
                        </m:r>
                        <m:r>
                          <a:rPr lang="en-US" sz="240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</a:rPr>
                          <m:t>N</m:t>
                        </m:r>
                      </m:den>
                    </m:f>
                  </m:oMath>
                </a14:m>
                <a:r>
                  <a:rPr lang="en-US" sz="2400" dirty="0"/>
                  <a:t>)</a:t>
                </a:r>
                <a:r>
                  <a:rPr lang="en-US" sz="2400" i="1" dirty="0"/>
                  <a:t> -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</a:rPr>
                          <m:t>N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</a:rPr>
                          <m:t>N</m:t>
                        </m:r>
                        <m:r>
                          <a:rPr lang="en-US" sz="240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</a:rPr>
                          <m:t>P</m:t>
                        </m:r>
                      </m:den>
                    </m:f>
                  </m:oMath>
                </a14:m>
                <a:r>
                  <a:rPr lang="en-US" sz="2400" dirty="0"/>
                  <a:t> log</a:t>
                </a:r>
                <a:r>
                  <a:rPr lang="en-US" sz="2400" i="1" dirty="0"/>
                  <a:t>2</a:t>
                </a:r>
                <a:r>
                  <a:rPr lang="en-US" sz="2400" dirty="0"/>
                  <a:t>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</a:rPr>
                          <m:t>N</m:t>
                        </m:r>
                      </m:num>
                      <m:den>
                        <m:r>
                          <a:rPr lang="en-US" sz="2400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</a:rPr>
                          <m:t>N</m:t>
                        </m:r>
                        <m:r>
                          <a:rPr lang="en-US" sz="240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</a:rPr>
                          <m:t>P</m:t>
                        </m:r>
                      </m:den>
                    </m:f>
                  </m:oMath>
                </a14:m>
                <a:r>
                  <a:rPr lang="en-US" sz="2400" dirty="0"/>
                  <a:t>)</a:t>
                </a:r>
                <a:endParaRPr lang="en-US" sz="24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8346" y="2255042"/>
                <a:ext cx="4889480" cy="661400"/>
              </a:xfrm>
              <a:prstGeom prst="rect">
                <a:avLst/>
              </a:prstGeom>
              <a:blipFill>
                <a:blip r:embed="rId3"/>
                <a:stretch>
                  <a:fillRect r="-623" b="-92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/>
          <p:cNvSpPr/>
          <p:nvPr/>
        </p:nvSpPr>
        <p:spPr>
          <a:xfrm>
            <a:off x="3103419" y="1412867"/>
            <a:ext cx="2653290" cy="3859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6000"/>
              </a:lnSpc>
            </a:pPr>
            <a:r>
              <a:rPr lang="en-US">
                <a:latin typeface="Times New Roman" panose="02020603050405020304" pitchFamily="18" charset="0"/>
                <a:ea typeface="Times New Roman" panose="02020603050405020304" pitchFamily="18" charset="0"/>
              </a:rPr>
              <a:t>Information Gain for Play:</a:t>
            </a:r>
            <a:endParaRPr lang="en-US" sz="110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103419" y="1871388"/>
            <a:ext cx="1519134" cy="3859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6000"/>
              </a:lnSpc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We know that,</a:t>
            </a:r>
            <a:endParaRPr lang="en-US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2881245" y="3097217"/>
                <a:ext cx="4847802" cy="65928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457200" lvl="0">
                  <a:lnSpc>
                    <a:spcPct val="107000"/>
                  </a:lnSpc>
                </a:pPr>
                <a:r>
                  <a:rPr lang="en-US" sz="2400" dirty="0"/>
                  <a:t>= </a:t>
                </a:r>
                <a14:m>
                  <m:oMath xmlns:m="http://schemas.openxmlformats.org/officeDocument/2006/math">
                    <m:r>
                      <a:rPr lang="en-US" sz="2400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US" sz="2400" b="0" i="0" smtClean="0"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US" sz="240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lang="en-US" sz="2400" dirty="0"/>
                  <a:t> log</a:t>
                </a:r>
                <a:r>
                  <a:rPr lang="en-US" sz="2400" i="1" dirty="0"/>
                  <a:t>2</a:t>
                </a:r>
                <a:r>
                  <a:rPr lang="en-US" sz="2400" dirty="0"/>
                  <a:t>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0" smtClean="0"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US" sz="2400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sz="2400" b="0" i="0" smtClean="0"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US" sz="240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lang="en-US" sz="2400" dirty="0"/>
                  <a:t>)</a:t>
                </a:r>
                <a:r>
                  <a:rPr lang="en-US" sz="2400" i="1" dirty="0"/>
                  <a:t> -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US" sz="2400" b="0" i="0" smtClean="0"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US" sz="240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lang="en-US" sz="2400" dirty="0"/>
                  <a:t> log</a:t>
                </a:r>
                <a:r>
                  <a:rPr lang="en-US" sz="2400" i="1" dirty="0"/>
                  <a:t>2</a:t>
                </a:r>
                <a:r>
                  <a:rPr lang="en-US" sz="2400" dirty="0"/>
                  <a:t>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0" smtClean="0"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US" sz="2400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sz="2400" b="0" i="0" smtClean="0"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US" sz="240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lang="en-US" sz="2400" dirty="0"/>
                  <a:t>)</a:t>
                </a:r>
                <a:endParaRPr lang="en-US" sz="24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1245" y="3097217"/>
                <a:ext cx="4847802" cy="659283"/>
              </a:xfrm>
              <a:prstGeom prst="rect">
                <a:avLst/>
              </a:prstGeom>
              <a:blipFill>
                <a:blip r:embed="rId4"/>
                <a:stretch>
                  <a:fillRect r="-881" b="-92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/>
          <p:cNvSpPr/>
          <p:nvPr/>
        </p:nvSpPr>
        <p:spPr>
          <a:xfrm>
            <a:off x="3103419" y="2796720"/>
            <a:ext cx="486030" cy="36670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6000"/>
              </a:lnSpc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So,</a:t>
            </a:r>
            <a:endParaRPr lang="en-US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2912317" y="3761087"/>
                <a:ext cx="3674404" cy="65056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457200" lvl="0">
                  <a:lnSpc>
                    <a:spcPct val="107000"/>
                  </a:lnSpc>
                </a:pPr>
                <a:r>
                  <a:rPr lang="en-US" sz="2400" dirty="0"/>
                  <a:t>= </a:t>
                </a:r>
                <a14:m>
                  <m:oMath xmlns:m="http://schemas.openxmlformats.org/officeDocument/2006/math">
                    <m:r>
                      <a:rPr lang="en-US" sz="2400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2400" dirty="0"/>
                  <a:t> log</a:t>
                </a:r>
                <a:r>
                  <a:rPr lang="en-US" sz="2400" i="1" dirty="0"/>
                  <a:t>2</a:t>
                </a:r>
                <a:r>
                  <a:rPr lang="en-US" sz="2400" dirty="0"/>
                  <a:t>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2400" dirty="0"/>
                  <a:t>)</a:t>
                </a:r>
                <a:r>
                  <a:rPr lang="en-US" sz="2400" i="1" dirty="0"/>
                  <a:t> -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2400" dirty="0"/>
                  <a:t> log</a:t>
                </a:r>
                <a:r>
                  <a:rPr lang="en-US" sz="2400" i="1" dirty="0"/>
                  <a:t>2</a:t>
                </a:r>
                <a:r>
                  <a:rPr lang="en-US" sz="2400" dirty="0"/>
                  <a:t>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2400" dirty="0"/>
                  <a:t>)</a:t>
                </a:r>
                <a:endParaRPr lang="en-US" sz="24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2317" y="3761087"/>
                <a:ext cx="3674404" cy="650563"/>
              </a:xfrm>
              <a:prstGeom prst="rect">
                <a:avLst/>
              </a:prstGeom>
              <a:blipFill>
                <a:blip r:embed="rId5"/>
                <a:stretch>
                  <a:fillRect r="-1495" b="-93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2964759" y="4511561"/>
                <a:ext cx="4299447" cy="65037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457200" lvl="0">
                  <a:lnSpc>
                    <a:spcPct val="107000"/>
                  </a:lnSpc>
                </a:pPr>
                <a:r>
                  <a:rPr lang="en-US" sz="2400" dirty="0"/>
                  <a:t>=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2400" dirty="0"/>
                  <a:t> log</a:t>
                </a:r>
                <a:r>
                  <a:rPr lang="en-US" sz="2400" i="1" dirty="0"/>
                  <a:t>2</a:t>
                </a:r>
                <a:r>
                  <a:rPr lang="en-US" sz="2400" dirty="0"/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sz="2400" dirty="0"/>
                  <a:t>)</a:t>
                </a:r>
                <a:r>
                  <a:rPr lang="en-US" sz="2400" i="1" dirty="0"/>
                  <a:t> -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2400" dirty="0"/>
                  <a:t> log</a:t>
                </a:r>
                <a:r>
                  <a:rPr lang="en-US" sz="2400" i="1" dirty="0"/>
                  <a:t>2</a:t>
                </a:r>
                <a:r>
                  <a:rPr lang="en-US" sz="2400" dirty="0"/>
                  <a:t>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sz="2400" dirty="0"/>
                  <a:t>)</a:t>
                </a:r>
                <a:r>
                  <a:rPr lang="en-US" sz="2400" i="1" dirty="0"/>
                  <a:t> </a:t>
                </a:r>
                <a:endParaRPr lang="en-US" sz="24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4759" y="4511561"/>
                <a:ext cx="4299447" cy="650371"/>
              </a:xfrm>
              <a:prstGeom prst="rect">
                <a:avLst/>
              </a:prstGeom>
              <a:blipFill>
                <a:blip r:embed="rId6"/>
                <a:stretch>
                  <a:fillRect b="-93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2964759" y="5258850"/>
                <a:ext cx="1489510" cy="65037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457200" lvl="0">
                  <a:lnSpc>
                    <a:spcPct val="107000"/>
                  </a:lnSpc>
                </a:pPr>
                <a:r>
                  <a:rPr lang="en-US" sz="2400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2400" dirty="0"/>
                  <a:t> 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2400" i="1" dirty="0"/>
                  <a:t> </a:t>
                </a:r>
                <a:endParaRPr lang="en-US" sz="24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4759" y="5258850"/>
                <a:ext cx="1489510" cy="650371"/>
              </a:xfrm>
              <a:prstGeom prst="rect">
                <a:avLst/>
              </a:prstGeom>
              <a:blipFill>
                <a:blip r:embed="rId7"/>
                <a:stretch>
                  <a:fillRect b="-10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 12"/>
          <p:cNvSpPr/>
          <p:nvPr/>
        </p:nvSpPr>
        <p:spPr>
          <a:xfrm>
            <a:off x="3044497" y="6001189"/>
            <a:ext cx="1024639" cy="470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lvl="0">
              <a:lnSpc>
                <a:spcPct val="107000"/>
              </a:lnSpc>
            </a:pPr>
            <a:r>
              <a:rPr lang="en-US" sz="2400" dirty="0"/>
              <a:t>= 1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3103419" y="473485"/>
            <a:ext cx="5957454" cy="4831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lang="en-US" sz="2400" b="1" kern="0" dirty="0">
                <a:solidFill>
                  <a:srgbClr val="FF0000"/>
                </a:solidFill>
                <a:latin typeface="Bookman Old Style" panose="0205060405050502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Decision Tree </a:t>
            </a:r>
            <a:r>
              <a:rPr lang="en-US" sz="2400" b="1" kern="0" dirty="0">
                <a:latin typeface="Bookman Old Style" panose="0205060405050502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Classification</a:t>
            </a:r>
            <a:endParaRPr lang="en-US" sz="2400" b="1" kern="0" dirty="0">
              <a:solidFill>
                <a:srgbClr val="FF0000"/>
              </a:solidFill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21062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2645717" y="2844111"/>
                <a:ext cx="4720780" cy="55976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457200" lvl="0">
                  <a:lnSpc>
                    <a:spcPct val="107000"/>
                  </a:lnSpc>
                </a:pPr>
                <a:r>
                  <a:rPr lang="en-US" sz="2000" dirty="0"/>
                  <a:t>I.G (Sunny) = </a:t>
                </a:r>
                <a14:m>
                  <m:oMath xmlns:m="http://schemas.openxmlformats.org/officeDocument/2006/math">
                    <m:r>
                      <a:rPr lang="en-US" sz="2000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sz="2000" b="0" i="0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sz="2000" dirty="0"/>
                  <a:t> log</a:t>
                </a:r>
                <a:r>
                  <a:rPr lang="en-US" sz="2000" i="1" dirty="0"/>
                  <a:t>2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0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sz="200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000" b="0" i="0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sz="2000" dirty="0"/>
                  <a:t>)</a:t>
                </a:r>
                <a:r>
                  <a:rPr lang="en-US" sz="2000" i="1" dirty="0"/>
                  <a:t> -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num>
                      <m:den>
                        <m:r>
                          <a:rPr lang="en-US" sz="2000" b="0" i="0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sz="2000" dirty="0"/>
                  <a:t> log</a:t>
                </a:r>
                <a:r>
                  <a:rPr lang="en-US" sz="2000" i="1" dirty="0"/>
                  <a:t>2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0" smtClean="0">
                            <a:latin typeface="Cambria Math" panose="02040503050406030204" pitchFamily="18" charset="0"/>
                          </a:rPr>
                          <m:t>0</m:t>
                        </m:r>
                      </m:num>
                      <m:den>
                        <m:r>
                          <a:rPr lang="en-US" sz="200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sz="2000" dirty="0"/>
                  <a:t>)  = 0</a:t>
                </a:r>
                <a:endParaRPr lang="en-US" sz="20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5717" y="2844111"/>
                <a:ext cx="4720780" cy="559769"/>
              </a:xfrm>
              <a:prstGeom prst="rect">
                <a:avLst/>
              </a:prstGeom>
              <a:blipFill>
                <a:blip r:embed="rId3"/>
                <a:stretch>
                  <a:fillRect r="-388" b="-87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2499475"/>
              </p:ext>
            </p:extLst>
          </p:nvPr>
        </p:nvGraphicFramePr>
        <p:xfrm>
          <a:off x="3293951" y="1291543"/>
          <a:ext cx="2788195" cy="1477512"/>
        </p:xfrm>
        <a:graphic>
          <a:graphicData uri="http://schemas.openxmlformats.org/drawingml/2006/table">
            <a:tbl>
              <a:tblPr/>
              <a:tblGrid>
                <a:gridCol w="1249881">
                  <a:extLst>
                    <a:ext uri="{9D8B030D-6E8A-4147-A177-3AD203B41FA5}">
                      <a16:colId xmlns:a16="http://schemas.microsoft.com/office/drawing/2014/main" val="1948383434"/>
                    </a:ext>
                  </a:extLst>
                </a:gridCol>
                <a:gridCol w="769157">
                  <a:extLst>
                    <a:ext uri="{9D8B030D-6E8A-4147-A177-3AD203B41FA5}">
                      <a16:colId xmlns:a16="http://schemas.microsoft.com/office/drawing/2014/main" val="3023715195"/>
                    </a:ext>
                  </a:extLst>
                </a:gridCol>
                <a:gridCol w="769157">
                  <a:extLst>
                    <a:ext uri="{9D8B030D-6E8A-4147-A177-3AD203B41FA5}">
                      <a16:colId xmlns:a16="http://schemas.microsoft.com/office/drawing/2014/main" val="3092757988"/>
                    </a:ext>
                  </a:extLst>
                </a:gridCol>
              </a:tblGrid>
              <a:tr h="369378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Weather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4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4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3032248"/>
                  </a:ext>
                </a:extLst>
              </a:tr>
              <a:tr h="369378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Sunny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3970987"/>
                  </a:ext>
                </a:extLst>
              </a:tr>
              <a:tr h="369378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Cloudy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3978764"/>
                  </a:ext>
                </a:extLst>
              </a:tr>
              <a:tr h="369378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Rainy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60074228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/>
              <p:cNvSpPr/>
              <p:nvPr/>
            </p:nvSpPr>
            <p:spPr>
              <a:xfrm>
                <a:off x="2645717" y="3572359"/>
                <a:ext cx="4802469" cy="55810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457200" lvl="0">
                  <a:lnSpc>
                    <a:spcPct val="107000"/>
                  </a:lnSpc>
                </a:pPr>
                <a:r>
                  <a:rPr lang="en-US" sz="2000" dirty="0"/>
                  <a:t>I.G (Cloudy) = </a:t>
                </a:r>
                <a14:m>
                  <m:oMath xmlns:m="http://schemas.openxmlformats.org/officeDocument/2006/math">
                    <m:r>
                      <a:rPr lang="en-US" sz="200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sz="2000" dirty="0"/>
                  <a:t> log</a:t>
                </a:r>
                <a:r>
                  <a:rPr lang="en-US" sz="2000" i="1" dirty="0"/>
                  <a:t>2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sz="200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sz="2000" dirty="0"/>
                  <a:t>)</a:t>
                </a:r>
                <a:r>
                  <a:rPr lang="en-US" sz="2000" i="1" dirty="0"/>
                  <a:t> -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sz="2000" b="0" i="0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sz="2000" dirty="0"/>
                  <a:t> log</a:t>
                </a:r>
                <a:r>
                  <a:rPr lang="en-US" sz="2000" i="1" dirty="0"/>
                  <a:t>2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sz="200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sz="2000" dirty="0"/>
                  <a:t>)  = 1</a:t>
                </a:r>
                <a:endParaRPr lang="en-US" sz="20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5717" y="3572359"/>
                <a:ext cx="4802469" cy="558102"/>
              </a:xfrm>
              <a:prstGeom prst="rect">
                <a:avLst/>
              </a:prstGeom>
              <a:blipFill>
                <a:blip r:embed="rId4"/>
                <a:stretch>
                  <a:fillRect r="-381" b="-76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>
                <a:off x="2645717" y="4256050"/>
                <a:ext cx="4655057" cy="55976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457200" lvl="0">
                  <a:lnSpc>
                    <a:spcPct val="107000"/>
                  </a:lnSpc>
                </a:pPr>
                <a:r>
                  <a:rPr lang="en-US" sz="2000" dirty="0"/>
                  <a:t>I.G (Rainy) = </a:t>
                </a:r>
                <a14:m>
                  <m:oMath xmlns:m="http://schemas.openxmlformats.org/officeDocument/2006/math">
                    <m:r>
                      <a:rPr lang="en-US" sz="200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num>
                      <m:den>
                        <m:r>
                          <a:rPr lang="en-US" sz="200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sz="2000" dirty="0"/>
                  <a:t> log</a:t>
                </a:r>
                <a:r>
                  <a:rPr lang="en-US" sz="2000" i="1" dirty="0"/>
                  <a:t>2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num>
                      <m:den>
                        <m:r>
                          <a:rPr lang="en-US" sz="2000">
                            <a:latin typeface="Cambria Math" panose="02040503050406030204" pitchFamily="18" charset="0"/>
                          </a:rPr>
                          <m:t> 3</m:t>
                        </m:r>
                      </m:den>
                    </m:f>
                  </m:oMath>
                </a14:m>
                <a:r>
                  <a:rPr lang="en-US" sz="2000" dirty="0"/>
                  <a:t>)</a:t>
                </a:r>
                <a:r>
                  <a:rPr lang="en-US" sz="2000" i="1" dirty="0"/>
                  <a:t> -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sz="200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sz="2000" dirty="0"/>
                  <a:t> log</a:t>
                </a:r>
                <a:r>
                  <a:rPr lang="en-US" sz="2000" i="1" dirty="0"/>
                  <a:t>2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sz="200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sz="2000" dirty="0"/>
                  <a:t>)  = 0</a:t>
                </a:r>
                <a:endParaRPr lang="en-US" sz="20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5717" y="4256050"/>
                <a:ext cx="4655057" cy="559769"/>
              </a:xfrm>
              <a:prstGeom prst="rect">
                <a:avLst/>
              </a:prstGeom>
              <a:blipFill>
                <a:blip r:embed="rId5"/>
                <a:stretch>
                  <a:fillRect r="-393" b="-76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/>
              <p:cNvSpPr/>
              <p:nvPr/>
            </p:nvSpPr>
            <p:spPr>
              <a:xfrm>
                <a:off x="7657025" y="2874376"/>
                <a:ext cx="2371227" cy="52950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000" dirty="0"/>
                  <a:t>E(Sunny)= 0 X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r>
                  <a:rPr lang="en-US" sz="2000" dirty="0"/>
                  <a:t>  = 0 </a:t>
                </a:r>
              </a:p>
            </p:txBody>
          </p:sp>
        </mc:Choice>
        <mc:Fallback xmlns=""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57025" y="2874376"/>
                <a:ext cx="2371227" cy="529504"/>
              </a:xfrm>
              <a:prstGeom prst="rect">
                <a:avLst/>
              </a:prstGeom>
              <a:blipFill>
                <a:blip r:embed="rId6"/>
                <a:stretch>
                  <a:fillRect l="-2571" r="-1799" b="-93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/>
              <p:cNvSpPr/>
              <p:nvPr/>
            </p:nvSpPr>
            <p:spPr>
              <a:xfrm>
                <a:off x="7657025" y="3583580"/>
                <a:ext cx="2646878" cy="52822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000" dirty="0"/>
                  <a:t>E(Cloudy)= 1 X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r>
                  <a:rPr lang="en-US" sz="2000" dirty="0"/>
                  <a:t>  = 0.4 </a:t>
                </a:r>
              </a:p>
            </p:txBody>
          </p:sp>
        </mc:Choice>
        <mc:Fallback xmlns="">
          <p:sp>
            <p:nvSpPr>
              <p:cNvPr id="18" name="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57025" y="3583580"/>
                <a:ext cx="2646878" cy="528222"/>
              </a:xfrm>
              <a:prstGeom prst="rect">
                <a:avLst/>
              </a:prstGeom>
              <a:blipFill>
                <a:blip r:embed="rId7"/>
                <a:stretch>
                  <a:fillRect l="-2304" r="-1613" b="-80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/>
              <p:cNvSpPr/>
              <p:nvPr/>
            </p:nvSpPr>
            <p:spPr>
              <a:xfrm>
                <a:off x="7657025" y="4283895"/>
                <a:ext cx="2305503" cy="52950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000" dirty="0"/>
                  <a:t>E(Rainy)= 0 X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r>
                  <a:rPr lang="en-US" sz="2000" dirty="0"/>
                  <a:t>  = 0 </a:t>
                </a:r>
              </a:p>
            </p:txBody>
          </p:sp>
        </mc:Choice>
        <mc:Fallback xmlns="">
          <p:sp>
            <p:nvSpPr>
              <p:cNvPr id="19" name="Rectangle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57025" y="4283895"/>
                <a:ext cx="2305503" cy="529504"/>
              </a:xfrm>
              <a:prstGeom prst="rect">
                <a:avLst/>
              </a:prstGeom>
              <a:blipFill>
                <a:blip r:embed="rId8"/>
                <a:stretch>
                  <a:fillRect l="-2646" r="-1852" b="-80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ectangle 19"/>
          <p:cNvSpPr/>
          <p:nvPr/>
        </p:nvSpPr>
        <p:spPr>
          <a:xfrm>
            <a:off x="3103419" y="4990174"/>
            <a:ext cx="331321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/>
              <a:t>E (Weather)= 0 + 0.4 + 0 = 0.4 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103419" y="5505100"/>
            <a:ext cx="335168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/>
              <a:t>Gain (Weather)= 1 - 0.4  = 0.6 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03419" y="473485"/>
            <a:ext cx="5957454" cy="4831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lang="en-US" sz="2400" b="1" kern="0" dirty="0">
                <a:solidFill>
                  <a:srgbClr val="FF0000"/>
                </a:solidFill>
                <a:latin typeface="Bookman Old Style" panose="0205060405050502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Decision Tree </a:t>
            </a:r>
            <a:r>
              <a:rPr lang="en-US" sz="2400" b="1" kern="0" dirty="0">
                <a:latin typeface="Bookman Old Style" panose="0205060405050502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Classification</a:t>
            </a:r>
            <a:endParaRPr lang="en-US" sz="2400" b="1" kern="0" dirty="0">
              <a:solidFill>
                <a:srgbClr val="FF0000"/>
              </a:solidFill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95912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2604153" y="2442330"/>
                <a:ext cx="5145511" cy="55810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457200" lvl="0">
                  <a:lnSpc>
                    <a:spcPct val="107000"/>
                  </a:lnSpc>
                </a:pPr>
                <a:r>
                  <a:rPr lang="en-US" sz="2000" dirty="0"/>
                  <a:t>I.G (High) = </a:t>
                </a:r>
                <a14:m>
                  <m:oMath xmlns:m="http://schemas.openxmlformats.org/officeDocument/2006/math">
                    <m:r>
                      <a:rPr lang="en-US" sz="2000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sz="2000" b="0" i="0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sz="2000" dirty="0"/>
                  <a:t> log</a:t>
                </a:r>
                <a:r>
                  <a:rPr lang="en-US" sz="2000" i="1" dirty="0"/>
                  <a:t>2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0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sz="200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000" b="0" i="0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sz="2000" dirty="0"/>
                  <a:t>)</a:t>
                </a:r>
                <a:r>
                  <a:rPr lang="en-US" sz="2000" i="1" dirty="0"/>
                  <a:t> -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sz="2000" dirty="0"/>
                  <a:t> log</a:t>
                </a:r>
                <a:r>
                  <a:rPr lang="en-US" sz="2000" i="1" dirty="0"/>
                  <a:t>2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sz="2000" dirty="0"/>
                  <a:t>)  = 0.8113</a:t>
                </a:r>
                <a:endParaRPr lang="en-US" sz="20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04153" y="2442330"/>
                <a:ext cx="5145511" cy="558102"/>
              </a:xfrm>
              <a:prstGeom prst="rect">
                <a:avLst/>
              </a:prstGeom>
              <a:blipFill>
                <a:blip r:embed="rId3"/>
                <a:stretch>
                  <a:fillRect r="-237" b="-87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/>
              <p:cNvSpPr/>
              <p:nvPr/>
            </p:nvSpPr>
            <p:spPr>
              <a:xfrm>
                <a:off x="2604153" y="3170578"/>
                <a:ext cx="4976555" cy="51334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457200" lvl="0">
                  <a:lnSpc>
                    <a:spcPct val="107000"/>
                  </a:lnSpc>
                </a:pPr>
                <a:r>
                  <a:rPr lang="en-US" dirty="0"/>
                  <a:t>I.G (Normal) =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lang="en-US" dirty="0"/>
                  <a:t> log</a:t>
                </a:r>
                <a:r>
                  <a:rPr lang="en-US" i="1" dirty="0"/>
                  <a:t>2</a:t>
                </a:r>
                <a:r>
                  <a:rPr lang="en-US" dirty="0"/>
                  <a:t>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lang="en-US" dirty="0"/>
                  <a:t>)</a:t>
                </a:r>
                <a:r>
                  <a:rPr lang="en-US" i="1" dirty="0"/>
                  <a:t> -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lang="en-US" dirty="0"/>
                  <a:t> log</a:t>
                </a:r>
                <a:r>
                  <a:rPr lang="en-US" i="1" dirty="0"/>
                  <a:t>2</a:t>
                </a:r>
                <a:r>
                  <a:rPr lang="en-US" dirty="0"/>
                  <a:t>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US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lang="en-US" dirty="0"/>
                  <a:t>)  = 0.9183</a:t>
                </a:r>
                <a:endParaRPr lang="en-US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04153" y="3170578"/>
                <a:ext cx="4976555" cy="513346"/>
              </a:xfrm>
              <a:prstGeom prst="rect">
                <a:avLst/>
              </a:prstGeom>
              <a:blipFill>
                <a:blip r:embed="rId4"/>
                <a:stretch>
                  <a:fillRect r="-122" b="-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/>
              <p:cNvSpPr/>
              <p:nvPr/>
            </p:nvSpPr>
            <p:spPr>
              <a:xfrm>
                <a:off x="7615461" y="2472595"/>
                <a:ext cx="3249608" cy="52822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000" dirty="0"/>
                  <a:t>E(High)= 0.8113 X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r>
                  <a:rPr lang="en-US" sz="2000" dirty="0"/>
                  <a:t>  = 0.325 </a:t>
                </a:r>
              </a:p>
            </p:txBody>
          </p:sp>
        </mc:Choice>
        <mc:Fallback xmlns=""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15461" y="2472595"/>
                <a:ext cx="3249608" cy="528222"/>
              </a:xfrm>
              <a:prstGeom prst="rect">
                <a:avLst/>
              </a:prstGeom>
              <a:blipFill>
                <a:blip r:embed="rId5"/>
                <a:stretch>
                  <a:fillRect l="-1876" r="-938" b="-93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/>
              <p:cNvSpPr/>
              <p:nvPr/>
            </p:nvSpPr>
            <p:spPr>
              <a:xfrm>
                <a:off x="7615461" y="3170578"/>
                <a:ext cx="3552576" cy="52950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000" dirty="0"/>
                  <a:t>E(Normal)= 0.9183 X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r>
                  <a:rPr lang="en-US" sz="2000" dirty="0"/>
                  <a:t>  = 0.551 </a:t>
                </a:r>
              </a:p>
            </p:txBody>
          </p:sp>
        </mc:Choice>
        <mc:Fallback xmlns="">
          <p:sp>
            <p:nvSpPr>
              <p:cNvPr id="18" name="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15461" y="3170578"/>
                <a:ext cx="3552576" cy="529504"/>
              </a:xfrm>
              <a:prstGeom prst="rect">
                <a:avLst/>
              </a:prstGeom>
              <a:blipFill>
                <a:blip r:embed="rId6"/>
                <a:stretch>
                  <a:fillRect l="-1715" r="-858" b="-80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ectangle 19"/>
          <p:cNvSpPr/>
          <p:nvPr/>
        </p:nvSpPr>
        <p:spPr>
          <a:xfrm>
            <a:off x="3081090" y="3976628"/>
            <a:ext cx="396134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/>
              <a:t>E (Humidity)= 0.325 + 0.551 = 0.876 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81090" y="4487798"/>
            <a:ext cx="391966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/>
              <a:t>Gain (Humidity)= 1 - 0.876  = 0.124 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0922080"/>
              </p:ext>
            </p:extLst>
          </p:nvPr>
        </p:nvGraphicFramePr>
        <p:xfrm>
          <a:off x="3103419" y="1386359"/>
          <a:ext cx="2209800" cy="885825"/>
        </p:xfrm>
        <a:graphic>
          <a:graphicData uri="http://schemas.openxmlformats.org/drawingml/2006/table">
            <a:tbl>
              <a:tblPr/>
              <a:tblGrid>
                <a:gridCol w="990600">
                  <a:extLst>
                    <a:ext uri="{9D8B030D-6E8A-4147-A177-3AD203B41FA5}">
                      <a16:colId xmlns:a16="http://schemas.microsoft.com/office/drawing/2014/main" val="184338702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420186915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241766681"/>
                    </a:ext>
                  </a:extLst>
                </a:gridCol>
              </a:tblGrid>
              <a:tr h="295275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Humidity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4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4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8504971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High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7154020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Normal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4471002"/>
                  </a:ext>
                </a:extLst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3103419" y="473485"/>
            <a:ext cx="5957454" cy="4831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lang="en-US" sz="2400" b="1" kern="0" dirty="0">
                <a:solidFill>
                  <a:srgbClr val="FF0000"/>
                </a:solidFill>
                <a:latin typeface="Bookman Old Style" panose="0205060405050502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Decision Tree </a:t>
            </a:r>
            <a:r>
              <a:rPr lang="en-US" sz="2400" b="1" kern="0" dirty="0">
                <a:latin typeface="Bookman Old Style" panose="0205060405050502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Classification</a:t>
            </a:r>
            <a:endParaRPr lang="en-US" sz="2400" b="1" kern="0" dirty="0">
              <a:solidFill>
                <a:srgbClr val="FF0000"/>
              </a:solidFill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98466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2604153" y="2442330"/>
                <a:ext cx="4283609" cy="51334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457200" lvl="0">
                  <a:lnSpc>
                    <a:spcPct val="107000"/>
                  </a:lnSpc>
                </a:pPr>
                <a:r>
                  <a:rPr lang="en-US" dirty="0"/>
                  <a:t>I.G (Week) = </a:t>
                </a:r>
                <a14:m>
                  <m:oMath xmlns:m="http://schemas.openxmlformats.org/officeDocument/2006/math">
                    <m:r>
                      <a:rPr lang="en-US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lang="en-US" dirty="0"/>
                  <a:t> log</a:t>
                </a:r>
                <a:r>
                  <a:rPr lang="en-US" i="1" dirty="0"/>
                  <a:t>2</a:t>
                </a:r>
                <a:r>
                  <a:rPr lang="en-US" dirty="0"/>
                  <a:t>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lang="en-US" dirty="0"/>
                  <a:t>)</a:t>
                </a:r>
                <a:r>
                  <a:rPr lang="en-US" i="1" dirty="0"/>
                  <a:t> -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lang="en-US" dirty="0"/>
                  <a:t> log</a:t>
                </a:r>
                <a:r>
                  <a:rPr lang="en-US" i="1" dirty="0"/>
                  <a:t>2</a:t>
                </a:r>
                <a:r>
                  <a:rPr lang="en-US" dirty="0"/>
                  <a:t>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lang="en-US" dirty="0"/>
                  <a:t>)  = 1</a:t>
                </a:r>
                <a:endParaRPr lang="en-US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04153" y="2442330"/>
                <a:ext cx="4283609" cy="513346"/>
              </a:xfrm>
              <a:prstGeom prst="rect">
                <a:avLst/>
              </a:prstGeom>
              <a:blipFill>
                <a:blip r:embed="rId3"/>
                <a:stretch>
                  <a:fillRect r="-284" b="-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/>
              <p:cNvSpPr/>
              <p:nvPr/>
            </p:nvSpPr>
            <p:spPr>
              <a:xfrm>
                <a:off x="2604153" y="3170578"/>
                <a:ext cx="4363695" cy="51155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457200" lvl="0">
                  <a:lnSpc>
                    <a:spcPct val="107000"/>
                  </a:lnSpc>
                </a:pPr>
                <a:r>
                  <a:rPr lang="en-US" dirty="0"/>
                  <a:t>I.G (Strong) =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dirty="0"/>
                  <a:t> log</a:t>
                </a:r>
                <a:r>
                  <a:rPr lang="en-US" i="1" dirty="0"/>
                  <a:t>2</a:t>
                </a:r>
                <a:r>
                  <a:rPr lang="en-US" dirty="0"/>
                  <a:t>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dirty="0"/>
                  <a:t>)</a:t>
                </a:r>
                <a:r>
                  <a:rPr lang="en-US" i="1" dirty="0"/>
                  <a:t> -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dirty="0"/>
                  <a:t> log</a:t>
                </a:r>
                <a:r>
                  <a:rPr lang="en-US" i="1" dirty="0"/>
                  <a:t>2</a:t>
                </a:r>
                <a:r>
                  <a:rPr lang="en-US" dirty="0"/>
                  <a:t>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dirty="0"/>
                  <a:t>)  = 1</a:t>
                </a:r>
                <a:endParaRPr lang="en-US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04153" y="3170578"/>
                <a:ext cx="4363695" cy="511550"/>
              </a:xfrm>
              <a:prstGeom prst="rect">
                <a:avLst/>
              </a:prstGeom>
              <a:blipFill>
                <a:blip r:embed="rId4"/>
                <a:stretch>
                  <a:fillRect r="-279" b="-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/>
              <p:cNvSpPr/>
              <p:nvPr/>
            </p:nvSpPr>
            <p:spPr>
              <a:xfrm>
                <a:off x="7615461" y="2472595"/>
                <a:ext cx="2465996" cy="52950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000" dirty="0"/>
                  <a:t>E(Week)= 1 X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r>
                  <a:rPr lang="en-US" sz="2000" dirty="0"/>
                  <a:t>  = 0.6</a:t>
                </a:r>
              </a:p>
            </p:txBody>
          </p:sp>
        </mc:Choice>
        <mc:Fallback xmlns=""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15461" y="2472595"/>
                <a:ext cx="2465996" cy="529504"/>
              </a:xfrm>
              <a:prstGeom prst="rect">
                <a:avLst/>
              </a:prstGeom>
              <a:blipFill>
                <a:blip r:embed="rId5"/>
                <a:stretch>
                  <a:fillRect l="-2469" r="-1728" b="-93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/>
              <p:cNvSpPr/>
              <p:nvPr/>
            </p:nvSpPr>
            <p:spPr>
              <a:xfrm>
                <a:off x="7615461" y="3170578"/>
                <a:ext cx="2612318" cy="52822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000" dirty="0"/>
                  <a:t>E(Strong)= 1 X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r>
                  <a:rPr lang="en-US" sz="2000" dirty="0"/>
                  <a:t>  = 0.4 </a:t>
                </a:r>
              </a:p>
            </p:txBody>
          </p:sp>
        </mc:Choice>
        <mc:Fallback xmlns="">
          <p:sp>
            <p:nvSpPr>
              <p:cNvPr id="18" name="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15461" y="3170578"/>
                <a:ext cx="2612318" cy="528222"/>
              </a:xfrm>
              <a:prstGeom prst="rect">
                <a:avLst/>
              </a:prstGeom>
              <a:blipFill>
                <a:blip r:embed="rId6"/>
                <a:stretch>
                  <a:fillRect l="-2331" r="-1399" b="-80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ectangle 19"/>
          <p:cNvSpPr/>
          <p:nvPr/>
        </p:nvSpPr>
        <p:spPr>
          <a:xfrm>
            <a:off x="3081090" y="3976628"/>
            <a:ext cx="258917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/>
              <a:t>E (Wind)= 0.6 + 0.4 = 1 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81090" y="4487798"/>
            <a:ext cx="256352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/>
              <a:t>Gain (Wind)= 1 - 1  = 0 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2813214"/>
              </p:ext>
            </p:extLst>
          </p:nvPr>
        </p:nvGraphicFramePr>
        <p:xfrm>
          <a:off x="3103419" y="1386359"/>
          <a:ext cx="2209800" cy="885825"/>
        </p:xfrm>
        <a:graphic>
          <a:graphicData uri="http://schemas.openxmlformats.org/drawingml/2006/table">
            <a:tbl>
              <a:tblPr/>
              <a:tblGrid>
                <a:gridCol w="990600">
                  <a:extLst>
                    <a:ext uri="{9D8B030D-6E8A-4147-A177-3AD203B41FA5}">
                      <a16:colId xmlns:a16="http://schemas.microsoft.com/office/drawing/2014/main" val="184338702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420186915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241766681"/>
                    </a:ext>
                  </a:extLst>
                </a:gridCol>
              </a:tblGrid>
              <a:tr h="295275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Wind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4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4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8504971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Week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7154020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Strong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4471002"/>
                  </a:ext>
                </a:extLst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3103419" y="473485"/>
            <a:ext cx="5957454" cy="4831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lang="en-US" sz="2400" b="1" kern="0" dirty="0">
                <a:solidFill>
                  <a:srgbClr val="FF0000"/>
                </a:solidFill>
                <a:latin typeface="Bookman Old Style" panose="0205060405050502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Decision Tree </a:t>
            </a:r>
            <a:r>
              <a:rPr lang="en-US" sz="2400" b="1" kern="0" dirty="0">
                <a:latin typeface="Bookman Old Style" panose="0205060405050502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Classification</a:t>
            </a:r>
            <a:endParaRPr lang="en-US" sz="2400" b="1" kern="0" dirty="0">
              <a:solidFill>
                <a:srgbClr val="FF0000"/>
              </a:solidFill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29882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/>
          <p:cNvSpPr/>
          <p:nvPr/>
        </p:nvSpPr>
        <p:spPr>
          <a:xfrm>
            <a:off x="2308353" y="2579815"/>
            <a:ext cx="186621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/>
              <a:t>Gain (Wind) = 0 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08353" y="1515593"/>
            <a:ext cx="246843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/>
              <a:t>Gain (Weather)  = 0.6 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08353" y="2047704"/>
            <a:ext cx="277672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/>
              <a:t>Gain (Humidity)  = 0.124 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08353" y="1082889"/>
            <a:ext cx="691215" cy="36670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6000"/>
              </a:lnSpc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Here,</a:t>
            </a:r>
            <a:endParaRPr lang="en-US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8073" y="1683724"/>
            <a:ext cx="4588866" cy="4186144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3103419" y="473485"/>
            <a:ext cx="5957454" cy="4831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lang="en-US" sz="2400" b="1" kern="0" dirty="0">
                <a:solidFill>
                  <a:srgbClr val="FF0000"/>
                </a:solidFill>
                <a:latin typeface="Bookman Old Style" panose="0205060405050502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Decision Tree </a:t>
            </a:r>
            <a:r>
              <a:rPr lang="en-US" sz="2400" b="1" kern="0" dirty="0">
                <a:latin typeface="Bookman Old Style" panose="0205060405050502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Classification</a:t>
            </a:r>
            <a:endParaRPr lang="en-US" sz="2400" b="1" kern="0" dirty="0">
              <a:solidFill>
                <a:srgbClr val="FF0000"/>
              </a:solidFill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5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6272426"/>
              </p:ext>
            </p:extLst>
          </p:nvPr>
        </p:nvGraphicFramePr>
        <p:xfrm>
          <a:off x="1204842" y="3292918"/>
          <a:ext cx="4073237" cy="3122295"/>
        </p:xfrm>
        <a:graphic>
          <a:graphicData uri="http://schemas.openxmlformats.org/drawingml/2006/table">
            <a:tbl>
              <a:tblPr/>
              <a:tblGrid>
                <a:gridCol w="1081690">
                  <a:extLst>
                    <a:ext uri="{9D8B030D-6E8A-4147-A177-3AD203B41FA5}">
                      <a16:colId xmlns:a16="http://schemas.microsoft.com/office/drawing/2014/main" val="2165503650"/>
                    </a:ext>
                  </a:extLst>
                </a:gridCol>
                <a:gridCol w="1064788">
                  <a:extLst>
                    <a:ext uri="{9D8B030D-6E8A-4147-A177-3AD203B41FA5}">
                      <a16:colId xmlns:a16="http://schemas.microsoft.com/office/drawing/2014/main" val="3306361404"/>
                    </a:ext>
                  </a:extLst>
                </a:gridCol>
                <a:gridCol w="1047887">
                  <a:extLst>
                    <a:ext uri="{9D8B030D-6E8A-4147-A177-3AD203B41FA5}">
                      <a16:colId xmlns:a16="http://schemas.microsoft.com/office/drawing/2014/main" val="2572292592"/>
                    </a:ext>
                  </a:extLst>
                </a:gridCol>
                <a:gridCol w="878872">
                  <a:extLst>
                    <a:ext uri="{9D8B030D-6E8A-4147-A177-3AD203B41FA5}">
                      <a16:colId xmlns:a16="http://schemas.microsoft.com/office/drawing/2014/main" val="1489239538"/>
                    </a:ext>
                  </a:extLst>
                </a:gridCol>
              </a:tblGrid>
              <a:tr h="263462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Weather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Humidity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Wind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Play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7242494"/>
                  </a:ext>
                </a:extLst>
              </a:tr>
              <a:tr h="263462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Sunny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High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Week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67546727"/>
                  </a:ext>
                </a:extLst>
              </a:tr>
              <a:tr h="263462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Sunny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Normal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Week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7889011"/>
                  </a:ext>
                </a:extLst>
              </a:tr>
              <a:tr h="263462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Sunny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Normal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Strong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7181561"/>
                  </a:ext>
                </a:extLst>
              </a:tr>
              <a:tr h="263462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Cloudy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High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Week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7407123"/>
                  </a:ext>
                </a:extLst>
              </a:tr>
              <a:tr h="263462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Cloudy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High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Strong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207575"/>
                  </a:ext>
                </a:extLst>
              </a:tr>
              <a:tr h="263462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Cloudy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Normal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Strong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3567526"/>
                  </a:ext>
                </a:extLst>
              </a:tr>
              <a:tr h="263462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Cloudy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Normal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Week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3722055"/>
                  </a:ext>
                </a:extLst>
              </a:tr>
              <a:tr h="263462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Rainy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High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Week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0872170"/>
                  </a:ext>
                </a:extLst>
              </a:tr>
              <a:tr h="263462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Rainy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Normal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Strong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1510039"/>
                  </a:ext>
                </a:extLst>
              </a:tr>
              <a:tr h="263462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Rainy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Normal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Week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52105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0727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3103419" y="473485"/>
            <a:ext cx="5957454" cy="4831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lang="en-US" sz="2400" b="1" kern="0" dirty="0">
                <a:solidFill>
                  <a:srgbClr val="FF0000"/>
                </a:solidFill>
                <a:latin typeface="Bookman Old Style" panose="0205060405050502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Decision Tree </a:t>
            </a:r>
            <a:r>
              <a:rPr lang="en-US" sz="2400" b="1" kern="0" dirty="0">
                <a:latin typeface="Bookman Old Style" panose="0205060405050502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Classification</a:t>
            </a:r>
            <a:endParaRPr lang="en-US" sz="2400" b="1" kern="0" dirty="0">
              <a:solidFill>
                <a:srgbClr val="FF0000"/>
              </a:solidFill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741716" y="2740913"/>
            <a:ext cx="986681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400" dirty="0"/>
              <a:t>Decision trees can be faster, however, KNN tends to be slower with large datasets because it scans the whole dataset to predict as it doesn’t generalize the data in advance.</a:t>
            </a:r>
          </a:p>
        </p:txBody>
      </p:sp>
    </p:spTree>
    <p:extLst>
      <p:ext uri="{BB962C8B-B14F-4D97-AF65-F5344CB8AC3E}">
        <p14:creationId xmlns:p14="http://schemas.microsoft.com/office/powerpoint/2010/main" val="8218819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2109</TotalTime>
  <Words>657</Words>
  <Application>Microsoft Office PowerPoint</Application>
  <PresentationFormat>Widescreen</PresentationFormat>
  <Paragraphs>177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9" baseType="lpstr">
      <vt:lpstr>Arial</vt:lpstr>
      <vt:lpstr>Bookman Old Style</vt:lpstr>
      <vt:lpstr>Calibri</vt:lpstr>
      <vt:lpstr>Calibri Light</vt:lpstr>
      <vt:lpstr>Cambria</vt:lpstr>
      <vt:lpstr>Cambria Math</vt:lpstr>
      <vt:lpstr>inter-bold</vt:lpstr>
      <vt:lpstr>inter-regular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Md. Aksadur Rahman</dc:creator>
  <cp:lastModifiedBy>MRR</cp:lastModifiedBy>
  <cp:revision>85</cp:revision>
  <dcterms:created xsi:type="dcterms:W3CDTF">2021-08-10T15:37:54Z</dcterms:created>
  <dcterms:modified xsi:type="dcterms:W3CDTF">2026-05-07T15:57:12Z</dcterms:modified>
</cp:coreProperties>
</file>